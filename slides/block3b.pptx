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 built the numerator. This block builds the denominator, discounts both, and then does the only arithmetic in the course they will be asked to reproduce by hand.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separates understanding incremental analysis from having memorised the formula. Every paper in the room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problem before the solution. Ask how they would choose between a cataract programme and a hypertension programme using cost per case detected. They cannot, and that discomfort is what the QALY was invented to relieve.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controversy out loud rather than hiding it. A room told the QALY is unproblematic stops thinking. A room told exactly where it is contested engages with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Then run the three presets in order: more years at the same quality, the same years at better quality, fewer years at much better quality. All three produce roughly the same QALY gain. Ask whether a patient would regard them as the same. They would not. That is the limitation, stated by the measure itself.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versus patient question is a live debate, not a settled matter. Present it as contested. It is the kind of nuance that makes a referee report worth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honesty in the Reference Case. It says outright that using adult values for children is a compromise, gives the reason it is the lesser of two evils, and asks for a paediatric value set to be developed. That is what good methodological guidance looks like: it names its own weak points.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time you have raised this: Block 1, Block 2, now with the mechanism. That repetition is deliberate. It is the most durable confusion in this subject for community medicine trainees.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discounting health, not just money, is the contested part. Discounting money is uncontroversial, because money can be invested. Discounting health needs a separate argument, and not everyone accepts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move the rate from 0% to 5%. The cost keeps 100% of its value because it is paid today. The health keeps a fraction, because it arrives decades later. Then ask: is that a fact about the world, or a choice we made? It is a choice,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delay paradox is an elegant argument and the room usually enjoys it. It is due to Keeler and Cretin. You need not attribute it on the slide, but say it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it on the board as well. Two things to stress. Both terms are differences, so an ICER always belongs to a pair of options and never to one option alone. And the denominator decides what the number means, which is why a cost per QALY and a cost per DALY cannot be compared even though both are rupees over a health unit.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flag here and collect it at the NMB slide. These are not exotic failures, they are what the ratio form of the question does to ordinary arithmetic, and all three turn up in print.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ratio near ₹200 per QALY should trigger disbelief. Teach that instinct: if an ICER looks impossibly good, check whether someone divided by total rather than incremental QALYs.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in pairs before revealing. Most rooms find the cytology row quickly: it costs more and delivers fewer QALYs than VIA every five years. Almost nobody finds the other one unaided, which is what makes the next two slides land.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explicitly to the CE plane widget from Block 2. They have seen this quadrant interactively. Here it is as a row in a table, which is how it appears in a real paper.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diagnostic rule is worth writing on the board. Rank by cost, remove simple dominance, then look for a falling ICER. A falling ICER always means extended dominance. Recompute after each removal.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Block 2 and Block 3 finally join. Change λ and the answer changes, not the analysis. Make them say which strategy wins at ₹80,000 before you show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revisit, since they met this in Block 2. The new thing to point at is the net monetary benefit row, which the next slide explains.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 the flag planted at "three ways it goes wrong". Walk the three failures across: no denominator, so no explosion; signs preserved, so dominant and dominated separate cleanly.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arithmetic live for one row of the ranking table. VIA every five years: 0.090 QALYs for ₹1,200 at a threshold of ₹2,12,307 gives an NMB of about ₹18,000, and an NHB of about 0.084 QALYs. Same decision, three currencies. Then note that the side condition on the ICER row is exactly what gets forgotten, and it is what makes a dominated option look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 is under-taught and removes most of the confusion around ICERs. Give it its own minute. The price is that you must commit to a value of λ up front, which people find uncomfortable. That discomfort is revealing, since using an ICER only hides the same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short of time, the two lines that must survive are "average ratios are meaningless" and the falling-ICER rule for extended dominance.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last entry. Be explicit about which numbers are real and which are teaching constructions. It models the honesty the day is asking of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unsettling. They have just done the arithmetic carefully and correctly. Now tell them the answer has a confidence region they have not seen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6</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Outcomes, discounting</a:t>
            </a:r>
          </a:p>
          <a:p>
            <a:pPr algn="l">
              <a:lnSpc>
                <a:spcPct val="91700"/>
              </a:lnSpc>
              <a:spcAft>
                <a:spcPts val="400"/>
              </a:spcAft>
              <a:buNone/>
            </a:pPr>
            <a:r>
              <a:rPr sz="5400" b="1" i="0" spc="-81">
                <a:solidFill>
                  <a:srgbClr val="162A6C"/>
                </a:solidFill>
                <a:latin typeface="Arial"/>
              </a:rPr>
              <a:t>and the ICER</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400"/>
              </a:spcAft>
              <a:buNone/>
            </a:pPr>
            <a:r>
              <a:rPr sz="3000" b="0" i="0">
                <a:solidFill>
                  <a:srgbClr val="47525F"/>
                </a:solidFill>
                <a:latin typeface="Arial"/>
              </a:rPr>
              <a:t>Drummond et al., </a:t>
            </a:r>
            <a:r>
              <a:rPr sz="3000" b="0" i="1">
                <a:solidFill>
                  <a:srgbClr val="47525F"/>
                </a:solidFill>
                <a:latin typeface="Arial"/>
              </a:rPr>
              <a:t>Methods for the Economic Evaluation of Health Care Programmes</a:t>
            </a:r>
            <a:r>
              <a:rPr sz="3000" b="0" i="0">
                <a:solidFill>
                  <a:srgbClr val="47525F"/>
                </a:solidFill>
                <a:latin typeface="Arial"/>
              </a:rPr>
              <a:t>, 4th ed., 2015.</a:t>
            </a:r>
          </a:p>
          <a:p>
            <a:pPr algn="l">
              <a:lnSpc>
                <a:spcPct val="112500"/>
              </a:lnSpc>
              <a:spcAft>
                <a:spcPts val="400"/>
              </a:spcAft>
              <a:buNone/>
            </a:pPr>
            <a:r>
              <a:rPr sz="3000" b="1" i="0">
                <a:solidFill>
                  <a:srgbClr val="10141A"/>
                </a:solidFill>
                <a:latin typeface="Arial"/>
              </a:rPr>
              <a:t>Chapter 4, pages 77 to 123.</a:t>
            </a:r>
          </a:p>
        </p:txBody>
      </p:sp>
      <p:sp>
        <p:nvSpPr>
          <p:cNvPr id="5" name="TextBox 4"/>
          <p:cNvSpPr txBox="1"/>
          <p:nvPr/>
        </p:nvSpPr>
        <p:spPr>
          <a:xfrm>
            <a:off x="914400" y="4029167"/>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Faculty, residents and research project staff · AIIMS Bhopal,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block</a:t>
            </a:r>
          </a:p>
        </p:txBody>
      </p:sp>
      <p:sp>
        <p:nvSpPr>
          <p:cNvPr id="4" name="TextBox 3"/>
          <p:cNvSpPr txBox="1"/>
          <p:nvPr/>
        </p:nvSpPr>
        <p:spPr>
          <a:xfrm>
            <a:off x="1288703" y="114205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Explain what a </a:t>
            </a:r>
            <a:r>
              <a:rPr sz="2800" b="1" i="0">
                <a:solidFill>
                  <a:srgbClr val="10141A"/>
                </a:solidFill>
                <a:latin typeface="Arial"/>
              </a:rPr>
              <a:t>QALY</a:t>
            </a:r>
            <a:r>
              <a:rPr sz="2800" b="0" i="0">
                <a:solidFill>
                  <a:srgbClr val="10141A"/>
                </a:solidFill>
                <a:latin typeface="Arial"/>
              </a:rPr>
              <a:t> is, and where its weights come from</a:t>
            </a:r>
          </a:p>
        </p:txBody>
      </p:sp>
      <p:sp>
        <p:nvSpPr>
          <p:cNvPr id="5" name="TextBox 4"/>
          <p:cNvSpPr txBox="1"/>
          <p:nvPr/>
        </p:nvSpPr>
        <p:spPr>
          <a:xfrm>
            <a:off x="1288703" y="1763556"/>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Say why a QALY is not a DALY, and why that matters for a league table</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Justify </a:t>
            </a:r>
            <a:r>
              <a:rPr sz="2800" b="1" i="0">
                <a:solidFill>
                  <a:srgbClr val="10141A"/>
                </a:solidFill>
                <a:latin typeface="Arial"/>
              </a:rPr>
              <a:t>discounting</a:t>
            </a:r>
            <a:r>
              <a:rPr sz="2800" b="0" i="0">
                <a:solidFill>
                  <a:srgbClr val="10141A"/>
                </a:solidFill>
                <a:latin typeface="Arial"/>
              </a:rPr>
              <a:t> and apply India's 3%</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Tell an </a:t>
            </a:r>
            <a:r>
              <a:rPr sz="2800" b="1" i="0">
                <a:solidFill>
                  <a:srgbClr val="10141A"/>
                </a:solidFill>
                <a:latin typeface="Arial"/>
              </a:rPr>
              <a:t>average</a:t>
            </a:r>
            <a:r>
              <a:rPr sz="2800" b="0" i="0">
                <a:solidFill>
                  <a:srgbClr val="10141A"/>
                </a:solidFill>
                <a:latin typeface="Arial"/>
              </a:rPr>
              <a:t> ratio from an </a:t>
            </a:r>
            <a:r>
              <a:rPr sz="2800" b="1" i="0">
                <a:solidFill>
                  <a:srgbClr val="10141A"/>
                </a:solidFill>
                <a:latin typeface="Arial"/>
              </a:rPr>
              <a:t>incremental</a:t>
            </a:r>
            <a:r>
              <a:rPr sz="2800" b="0" i="0">
                <a:solidFill>
                  <a:srgbClr val="10141A"/>
                </a:solidFill>
                <a:latin typeface="Arial"/>
              </a:rPr>
              <a:t> one</a:t>
            </a:r>
          </a:p>
        </p:txBody>
      </p:sp>
      <p:sp>
        <p:nvSpPr>
          <p:cNvPr id="8" name="TextBox 7"/>
          <p:cNvSpPr txBox="1"/>
          <p:nvPr/>
        </p:nvSpPr>
        <p:spPr>
          <a:xfrm>
            <a:off x="1288703" y="4107599"/>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Rank several options and find </a:t>
            </a:r>
            <a:r>
              <a:rPr sz="2800" b="1" i="0">
                <a:solidFill>
                  <a:srgbClr val="10141A"/>
                </a:solidFill>
                <a:latin typeface="Arial"/>
              </a:rPr>
              <a:t>simple</a:t>
            </a:r>
            <a:r>
              <a:rPr sz="2800" b="0" i="0">
                <a:solidFill>
                  <a:srgbClr val="10141A"/>
                </a:solidFill>
                <a:latin typeface="Arial"/>
              </a:rPr>
              <a:t> and </a:t>
            </a:r>
            <a:r>
              <a:rPr sz="2800" b="1" i="0">
                <a:solidFill>
                  <a:srgbClr val="10141A"/>
                </a:solidFill>
                <a:latin typeface="Arial"/>
              </a:rPr>
              <a:t>extended dominance</a:t>
            </a:r>
          </a:p>
        </p:txBody>
      </p:sp>
      <p:sp>
        <p:nvSpPr>
          <p:cNvPr id="9" name="TextBox 8"/>
          <p:cNvSpPr txBox="1"/>
          <p:nvPr/>
        </p:nvSpPr>
        <p:spPr>
          <a:xfrm>
            <a:off x="1288703" y="4729105"/>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Compute an </a:t>
            </a:r>
            <a:r>
              <a:rPr sz="2800" b="1" i="0">
                <a:solidFill>
                  <a:srgbClr val="10141A"/>
                </a:solidFill>
                <a:latin typeface="Arial"/>
              </a:rPr>
              <a:t>ICER</a:t>
            </a:r>
            <a:r>
              <a:rPr sz="2800" b="0" i="0">
                <a:solidFill>
                  <a:srgbClr val="10141A"/>
                </a:solidFill>
                <a:latin typeface="Arial"/>
              </a:rPr>
              <a:t>, or use net monetary benefit instead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6</a:t>
            </a:r>
            <a:r>
              <a:rPr sz="3000" b="1" i="0" spc="-15">
                <a:solidFill>
                  <a:srgbClr val="FFFFFF"/>
                </a:solidFill>
                <a:latin typeface="Arial"/>
              </a:rPr>
              <a:t> Measuring health outcomes</a:t>
            </a:r>
          </a:p>
        </p:txBody>
      </p:sp>
      <p:graphicFrame>
        <p:nvGraphicFramePr>
          <p:cNvPr id="4" name="Table 3"/>
          <p:cNvGraphicFramePr>
            <a:graphicFrameLocks noGrp="1"/>
          </p:cNvGraphicFramePr>
          <p:nvPr/>
        </p:nvGraphicFramePr>
        <p:xfrm>
          <a:off x="552450" y="1162050"/>
          <a:ext cx="11087100" cy="2844254"/>
        </p:xfrm>
        <a:graphic>
          <a:graphicData uri="http://schemas.openxmlformats.org/drawingml/2006/table">
            <a:tbl>
              <a:tblPr firstRow="1">
                <a:tableStyleId>{5C22544A-7EE6-4342-B048-85BDC9FD1C3A}</a:tableStyleId>
              </a:tblPr>
              <a:tblGrid>
                <a:gridCol w="5477173"/>
                <a:gridCol w="2451348"/>
                <a:gridCol w="3158579"/>
              </a:tblGrid>
              <a:tr h="711063">
                <a:tc>
                  <a:txBody>
                    <a:bodyPr wrap="square"/>
                    <a:lstStyle/>
                    <a:p>
                      <a:pPr algn="l">
                        <a:lnSpc>
                          <a:spcPct val="104000"/>
                        </a:lnSpc>
                      </a:pPr>
                      <a:r>
                        <a:rPr sz="2100" b="1" i="0">
                          <a:solidFill>
                            <a:srgbClr val="FFFFFF"/>
                          </a:solidFill>
                          <a:latin typeface="Arial"/>
                        </a:rPr>
                        <a:t>Measure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Captures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Comparable across</a:t>
                      </a:r>
                    </a:p>
                  </a:txBody>
                  <a:tcPr marL="60000" marR="60000" marT="35000" marB="35000" anchor="t">
                    <a:solidFill>
                      <a:srgbClr val="162A6C"/>
                    </a:solidFill>
                  </a:tcPr>
                </a:tc>
              </a:tr>
              <a:tr h="711063">
                <a:tc>
                  <a:txBody>
                    <a:bodyPr wrap="square"/>
                    <a:lstStyle/>
                    <a:p>
                      <a:pPr algn="l">
                        <a:lnSpc>
                          <a:spcPct val="104000"/>
                        </a:lnSpc>
                      </a:pPr>
                      <a:r>
                        <a:rPr sz="2100" b="0" i="0">
                          <a:solidFill>
                            <a:srgbClr val="10141A"/>
                          </a:solidFill>
                          <a:latin typeface="Arial"/>
                        </a:rPr>
                        <a:t>Deaths averted, cases detected, mmHg lowered</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one dimension only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the same outcome only</a:t>
                      </a:r>
                    </a:p>
                  </a:txBody>
                  <a:tcPr marL="60000" marR="60000" marT="35000" marB="35000" anchor="t">
                    <a:solidFill>
                      <a:srgbClr val="F4F6F9"/>
                    </a:solidFill>
                  </a:tcPr>
                </a:tc>
              </a:tr>
              <a:tr h="711063">
                <a:tc>
                  <a:txBody>
                    <a:bodyPr wrap="square"/>
                    <a:lstStyle/>
                    <a:p>
                      <a:pPr algn="l">
                        <a:lnSpc>
                          <a:spcPct val="104000"/>
                        </a:lnSpc>
                      </a:pPr>
                      <a:r>
                        <a:rPr sz="2100" b="0" i="0">
                          <a:solidFill>
                            <a:srgbClr val="10141A"/>
                          </a:solidFill>
                          <a:latin typeface="Arial"/>
                        </a:rPr>
                        <a:t>Life-years gained</a:t>
                      </a:r>
                    </a:p>
                  </a:txBody>
                  <a:tcPr marL="60000" marR="60000" marT="35000" marB="35000" anchor="t">
                    <a:noFill/>
                  </a:tcPr>
                </a:tc>
                <a:tc>
                  <a:txBody>
                    <a:bodyPr wrap="square"/>
                    <a:lstStyle/>
                    <a:p>
                      <a:pPr algn="l">
                        <a:lnSpc>
                          <a:spcPct val="104000"/>
                        </a:lnSpc>
                      </a:pPr>
                      <a:r>
                        <a:rPr sz="2100" b="0" i="0">
                          <a:solidFill>
                            <a:srgbClr val="10141A"/>
                          </a:solidFill>
                          <a:latin typeface="Arial"/>
                        </a:rPr>
                        <a:t>length of life</a:t>
                      </a:r>
                    </a:p>
                  </a:txBody>
                  <a:tcPr marL="60000" marR="60000" marT="35000" marB="35000" anchor="t">
                    <a:noFill/>
                  </a:tcPr>
                </a:tc>
                <a:tc>
                  <a:txBody>
                    <a:bodyPr wrap="square"/>
                    <a:lstStyle/>
                    <a:p>
                      <a:pPr algn="l">
                        <a:lnSpc>
                          <a:spcPct val="104000"/>
                        </a:lnSpc>
                      </a:pPr>
                      <a:r>
                        <a:rPr sz="2100" b="0" i="0">
                          <a:solidFill>
                            <a:srgbClr val="10141A"/>
                          </a:solidFill>
                          <a:latin typeface="Arial"/>
                        </a:rPr>
                        <a:t>anything affecting survival</a:t>
                      </a:r>
                    </a:p>
                  </a:txBody>
                  <a:tcPr marL="60000" marR="60000" marT="35000" marB="35000" anchor="t">
                    <a:noFill/>
                  </a:tcPr>
                </a:tc>
              </a:tr>
              <a:tr h="711065">
                <a:tc>
                  <a:txBody>
                    <a:bodyPr wrap="square"/>
                    <a:lstStyle/>
                    <a:p>
                      <a:pPr algn="l">
                        <a:lnSpc>
                          <a:spcPct val="104000"/>
                        </a:lnSpc>
                      </a:pPr>
                      <a:r>
                        <a:rPr sz="2100" b="1" i="0">
                          <a:solidFill>
                            <a:srgbClr val="10141A"/>
                          </a:solidFill>
                          <a:latin typeface="Arial"/>
                        </a:rPr>
                        <a:t>QALYs</a:t>
                      </a:r>
                      <a:r>
                        <a:rPr sz="2100" b="0" i="0">
                          <a:solidFill>
                            <a:srgbClr val="10141A"/>
                          </a:solidFill>
                          <a:latin typeface="Arial"/>
                        </a:rPr>
                        <a:t> and DALYs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length </a:t>
                      </a:r>
                      <a:r>
                        <a:rPr sz="2100" b="0" i="1">
                          <a:solidFill>
                            <a:srgbClr val="10141A"/>
                          </a:solidFill>
                          <a:latin typeface="Arial"/>
                        </a:rPr>
                        <a:t>and</a:t>
                      </a:r>
                      <a:r>
                        <a:rPr sz="2100" b="0" i="0">
                          <a:solidFill>
                            <a:srgbClr val="10141A"/>
                          </a:solidFill>
                          <a:latin typeface="Arial"/>
                        </a:rPr>
                        <a:t> quality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any health programme</a:t>
                      </a:r>
                    </a:p>
                  </a:txBody>
                  <a:tcPr marL="60000" marR="60000" marT="35000" marB="35000" anchor="t">
                    <a:solidFill>
                      <a:srgbClr val="F4F6F9"/>
                    </a:solidFill>
                  </a:tcPr>
                </a:tc>
              </a:tr>
            </a:tbl>
          </a:graphicData>
        </a:graphic>
      </p:graphicFrame>
      <p:sp>
        <p:nvSpPr>
          <p:cNvPr id="5" name="Rectangle 4"/>
          <p:cNvSpPr/>
          <p:nvPr/>
        </p:nvSpPr>
        <p:spPr>
          <a:xfrm>
            <a:off x="552450" y="412834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128343"/>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12868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Cost per case detected cannot be set against cost per stroke prevented, so you cannot allocate a budget.</a:t>
            </a:r>
          </a:p>
        </p:txBody>
      </p:sp>
      <p:sp>
        <p:nvSpPr>
          <p:cNvPr id="8" name="Rectangle 7"/>
          <p:cNvSpPr/>
          <p:nvPr/>
        </p:nvSpPr>
        <p:spPr>
          <a:xfrm>
            <a:off x="552450" y="5344269"/>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5344269"/>
            <a:ext cx="57150" cy="536674"/>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5344609"/>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India's recommendation: use </a:t>
            </a:r>
            <a:r>
              <a:rPr sz="3200" b="1" i="0" spc="-32">
                <a:solidFill>
                  <a:srgbClr val="10141A"/>
                </a:solidFill>
                <a:latin typeface="Arial"/>
              </a:rPr>
              <a:t>QALYs</a:t>
            </a:r>
            <a:r>
              <a:rPr sz="3200" b="1" i="0" spc="-32">
                <a:solidFill>
                  <a:srgbClr val="10141A"/>
                </a:solidFill>
                <a:latin typeface="Arial"/>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QALY, in one sentence</a:t>
            </a:r>
          </a:p>
        </p:txBody>
      </p:sp>
      <p:sp>
        <p:nvSpPr>
          <p:cNvPr id="4" name="Rectangle 3"/>
          <p:cNvSpPr/>
          <p:nvPr/>
        </p:nvSpPr>
        <p:spPr>
          <a:xfrm>
            <a:off x="552450" y="11620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6189" y="11623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 year of life in full health is worth 1. A year in a worse state is worth less. Add them up.</a:t>
            </a:r>
          </a:p>
        </p:txBody>
      </p:sp>
      <p:sp>
        <p:nvSpPr>
          <p:cNvPr id="7" name="TextBox 6"/>
          <p:cNvSpPr txBox="1"/>
          <p:nvPr/>
        </p:nvSpPr>
        <p:spPr>
          <a:xfrm>
            <a:off x="552450" y="2357976"/>
            <a:ext cx="11087100" cy="1491704"/>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The weight, the </a:t>
            </a:r>
            <a:r>
              <a:rPr sz="2800" b="1" i="0">
                <a:solidFill>
                  <a:srgbClr val="10141A"/>
                </a:solidFill>
                <a:latin typeface="Arial"/>
              </a:rPr>
              <a:t>utility</a:t>
            </a:r>
            <a:r>
              <a:rPr sz="2800" b="0" i="0">
                <a:solidFill>
                  <a:srgbClr val="10141A"/>
                </a:solidFill>
                <a:latin typeface="Arial"/>
              </a:rPr>
              <a:t>, runs from </a:t>
            </a:r>
            <a:r>
              <a:rPr sz="2800" b="1" i="0">
                <a:solidFill>
                  <a:srgbClr val="10141A"/>
                </a:solidFill>
                <a:latin typeface="Arial"/>
              </a:rPr>
              <a:t>1 for full health</a:t>
            </a:r>
            <a:r>
              <a:rPr sz="2800" b="0" i="0">
                <a:solidFill>
                  <a:srgbClr val="10141A"/>
                </a:solidFill>
                <a:latin typeface="Arial"/>
              </a:rPr>
              <a:t> to </a:t>
            </a:r>
            <a:r>
              <a:rPr sz="2800" b="1" i="0">
                <a:solidFill>
                  <a:srgbClr val="10141A"/>
                </a:solidFill>
                <a:latin typeface="Arial"/>
              </a:rPr>
              <a:t>0 for a state as good as being dead</a:t>
            </a:r>
            <a:r>
              <a:rPr sz="2800" b="0" i="0">
                <a:solidFill>
                  <a:srgbClr val="10141A"/>
                </a:solidFill>
                <a:latin typeface="Arial"/>
              </a:rPr>
              <a:t>, and can go below zero for states judged worse than death.</a:t>
            </a:r>
          </a:p>
        </p:txBody>
      </p:sp>
      <p:sp>
        <p:nvSpPr>
          <p:cNvPr id="8" name="TextBox 7"/>
          <p:cNvSpPr txBox="1"/>
          <p:nvPr/>
        </p:nvSpPr>
        <p:spPr>
          <a:xfrm>
            <a:off x="552450" y="4027232"/>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Two years at a utility of 0.5 count the same as one year at 1.0.</a:t>
            </a:r>
          </a:p>
        </p:txBody>
      </p:sp>
      <p:sp>
        <p:nvSpPr>
          <p:cNvPr id="9" name="TextBox 8"/>
          <p:cNvSpPr txBox="1"/>
          <p:nvPr/>
        </p:nvSpPr>
        <p:spPr>
          <a:xfrm>
            <a:off x="552450" y="473163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That equivalence is the QALY's power and its controversy. It is what lets you compare a cancer programme with a mental health programme. It also makes people uneasy, because the arithmetic treats those two years and that one year as interchangeable.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A QALY is an area. Build one</a:t>
            </a:r>
          </a:p>
        </p:txBody>
      </p:sp>
      <p:pic>
        <p:nvPicPr>
          <p:cNvPr id="4" name="Picture 3" descr="block3b-5-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Quality up, years across; the area is the QALYs. Produce the </a:t>
            </a:r>
            <a:r>
              <a:rPr sz="2200" b="1" i="0">
                <a:solidFill>
                  <a:srgbClr val="10141A"/>
                </a:solidFill>
                <a:latin typeface="Arial"/>
              </a:rPr>
              <a:t>same gain three ways</a:t>
            </a:r>
            <a:r>
              <a:rPr sz="2200" b="0" i="0">
                <a:solidFill>
                  <a:srgbClr val="10141A"/>
                </a:solidFill>
                <a:latin typeface="Arial"/>
              </a:rPr>
              <a:t>: more years, better quality, or fewer but much better years.</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All three are identical to the QALY, which is its central limitation · </a:t>
            </a:r>
            <a:r>
              <a:rPr sz="1400" b="1" i="0">
                <a:solidFill>
                  <a:srgbClr val="10141A"/>
                </a:solidFill>
                <a:latin typeface="Arial"/>
              </a:rPr>
              <a:t>sph-aiimsbhopal.github.io/intro-economic-evaluation-health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do the utility weights come from?</a:t>
            </a:r>
          </a:p>
        </p:txBody>
      </p:sp>
      <p:sp>
        <p:nvSpPr>
          <p:cNvPr id="4" name="Rectangle 3"/>
          <p:cNvSpPr/>
          <p:nvPr/>
        </p:nvSpPr>
        <p:spPr>
          <a:xfrm>
            <a:off x="552450"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Time trade-off</a:t>
            </a:r>
          </a:p>
        </p:txBody>
      </p:sp>
      <p:sp>
        <p:nvSpPr>
          <p:cNvPr id="7" name="TextBox 6"/>
          <p:cNvSpPr txBox="1"/>
          <p:nvPr/>
        </p:nvSpPr>
        <p:spPr>
          <a:xfrm>
            <a:off x="803672" y="1694649"/>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How many of your 10 years in this state would you give up to be in full health for the rest?</a:t>
            </a:r>
          </a:p>
        </p:txBody>
      </p:sp>
      <p:sp>
        <p:nvSpPr>
          <p:cNvPr id="8" name="Rectangle 7"/>
          <p:cNvSpPr/>
          <p:nvPr/>
        </p:nvSpPr>
        <p:spPr>
          <a:xfrm>
            <a:off x="4301430"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265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Standard gamble</a:t>
            </a:r>
          </a:p>
        </p:txBody>
      </p:sp>
      <p:sp>
        <p:nvSpPr>
          <p:cNvPr id="11" name="TextBox 10"/>
          <p:cNvSpPr txBox="1"/>
          <p:nvPr/>
        </p:nvSpPr>
        <p:spPr>
          <a:xfrm>
            <a:off x="4552652" y="1694649"/>
            <a:ext cx="311527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What risk of immediate death would you accept for a certain cure?</a:t>
            </a:r>
          </a:p>
        </p:txBody>
      </p:sp>
      <p:sp>
        <p:nvSpPr>
          <p:cNvPr id="12" name="Rectangle 11"/>
          <p:cNvSpPr/>
          <p:nvPr/>
        </p:nvSpPr>
        <p:spPr>
          <a:xfrm>
            <a:off x="8050411"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1633"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EQ-5D</a:t>
            </a:r>
          </a:p>
        </p:txBody>
      </p:sp>
      <p:sp>
        <p:nvSpPr>
          <p:cNvPr id="15" name="TextBox 14"/>
          <p:cNvSpPr txBox="1"/>
          <p:nvPr/>
        </p:nvSpPr>
        <p:spPr>
          <a:xfrm>
            <a:off x="8301633" y="1694649"/>
            <a:ext cx="3115270"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Describe your health on five dimensions and five levels. A national value set converts that to a number.</a:t>
            </a:r>
          </a:p>
        </p:txBody>
      </p:sp>
      <p:sp>
        <p:nvSpPr>
          <p:cNvPr id="16" name="Rectangle 15"/>
          <p:cNvSpPr/>
          <p:nvPr/>
        </p:nvSpPr>
        <p:spPr>
          <a:xfrm>
            <a:off x="552450" y="4082207"/>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2450" y="4082207"/>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189" y="4082547"/>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values come from the </a:t>
            </a:r>
            <a:r>
              <a:rPr sz="3200" b="1" i="1" spc="-32">
                <a:solidFill>
                  <a:srgbClr val="10141A"/>
                </a:solidFill>
                <a:latin typeface="Arial"/>
              </a:rPr>
              <a:t>general public</a:t>
            </a:r>
            <a:r>
              <a:rPr sz="3200" b="1" i="0" spc="-32">
                <a:solidFill>
                  <a:srgbClr val="10141A"/>
                </a:solidFill>
                <a:latin typeface="Arial"/>
              </a:rPr>
              <a:t>, not from patients.</a:t>
            </a:r>
          </a:p>
        </p:txBody>
      </p:sp>
      <p:sp>
        <p:nvSpPr>
          <p:cNvPr id="19" name="TextBox 18"/>
          <p:cNvSpPr txBox="1"/>
          <p:nvPr/>
        </p:nvSpPr>
        <p:spPr>
          <a:xfrm>
            <a:off x="552450" y="5278132"/>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Deliberately so. The public bear the opportunity cost and fund the system. Patients who have adapted to a condition rate it higher than the public do, which would systematically reduce the apparent value of treating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India has its own value set. Use it</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DEVINE study produced an EQ-5D-5L value set for India, so utilities no longer have to be borrowed.</a:t>
            </a:r>
          </a:p>
        </p:txBody>
      </p:sp>
      <p:sp>
        <p:nvSpPr>
          <p:cNvPr id="5" name="Rectangle 4"/>
          <p:cNvSpPr/>
          <p:nvPr/>
        </p:nvSpPr>
        <p:spPr>
          <a:xfrm>
            <a:off x="552450" y="208329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08329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08363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Applying a UK tariff to Indian patients is now an avoidable flaw.</a:t>
            </a:r>
          </a:p>
        </p:txBody>
      </p:sp>
      <p:graphicFrame>
        <p:nvGraphicFramePr>
          <p:cNvPr id="8" name="Table 7"/>
          <p:cNvGraphicFramePr>
            <a:graphicFrameLocks noGrp="1"/>
          </p:cNvGraphicFramePr>
          <p:nvPr/>
        </p:nvGraphicFramePr>
        <p:xfrm>
          <a:off x="552450" y="3299222"/>
          <a:ext cx="11087100" cy="2720429"/>
        </p:xfrm>
        <a:graphic>
          <a:graphicData uri="http://schemas.openxmlformats.org/drawingml/2006/table">
            <a:tbl>
              <a:tblPr firstRow="1">
                <a:tableStyleId>{5C22544A-7EE6-4342-B048-85BDC9FD1C3A}</a:tableStyleId>
              </a:tblPr>
              <a:tblGrid>
                <a:gridCol w="3484811"/>
                <a:gridCol w="7602289"/>
              </a:tblGrid>
              <a:tr h="544085">
                <a:tc>
                  <a:txBody>
                    <a:bodyPr wrap="square"/>
                    <a:lstStyle/>
                    <a:p>
                      <a:pPr algn="l">
                        <a:lnSpc>
                          <a:spcPct val="104000"/>
                        </a:lnSpc>
                      </a:pPr>
                      <a:r>
                        <a:rPr sz="2100" b="1" i="0">
                          <a:solidFill>
                            <a:srgbClr val="FFFFFF"/>
                          </a:solidFill>
                          <a:latin typeface="Arial"/>
                        </a:rPr>
                        <a:t>Age group</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the Reference Case asks for</a:t>
                      </a:r>
                    </a:p>
                  </a:txBody>
                  <a:tcPr marL="60000" marR="60000" marT="35000" marB="35000" anchor="t">
                    <a:solidFill>
                      <a:srgbClr val="162A6C"/>
                    </a:solidFill>
                  </a:tcPr>
                </a:tc>
              </a:tr>
              <a:tr h="544085">
                <a:tc>
                  <a:txBody>
                    <a:bodyPr wrap="square"/>
                    <a:lstStyle/>
                    <a:p>
                      <a:pPr algn="l">
                        <a:lnSpc>
                          <a:spcPct val="104000"/>
                        </a:lnSpc>
                      </a:pPr>
                      <a:r>
                        <a:rPr sz="2100" b="0" i="0">
                          <a:solidFill>
                            <a:srgbClr val="10141A"/>
                          </a:solidFill>
                          <a:latin typeface="Arial"/>
                        </a:rPr>
                        <a:t>Adults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EQ-5D-5L with the Indian value set</a:t>
                      </a:r>
                    </a:p>
                  </a:txBody>
                  <a:tcPr marL="60000" marR="60000" marT="35000" marB="35000" anchor="t">
                    <a:solidFill>
                      <a:srgbClr val="F4F6F9"/>
                    </a:solidFill>
                  </a:tcPr>
                </a:tc>
              </a:tr>
              <a:tr h="544085">
                <a:tc>
                  <a:txBody>
                    <a:bodyPr wrap="square"/>
                    <a:lstStyle/>
                    <a:p>
                      <a:pPr algn="l">
                        <a:lnSpc>
                          <a:spcPct val="104000"/>
                        </a:lnSpc>
                      </a:pPr>
                      <a:r>
                        <a:rPr sz="2100" b="0" i="0">
                          <a:solidFill>
                            <a:srgbClr val="10141A"/>
                          </a:solidFill>
                          <a:latin typeface="Arial"/>
                        </a:rPr>
                        <a:t>8 to 15 years</a:t>
                      </a:r>
                    </a:p>
                  </a:txBody>
                  <a:tcPr marL="60000" marR="60000" marT="35000" marB="35000" anchor="t">
                    <a:noFill/>
                  </a:tcPr>
                </a:tc>
                <a:tc>
                  <a:txBody>
                    <a:bodyPr wrap="square"/>
                    <a:lstStyle/>
                    <a:p>
                      <a:pPr algn="l">
                        <a:lnSpc>
                          <a:spcPct val="104000"/>
                        </a:lnSpc>
                      </a:pPr>
                      <a:r>
                        <a:rPr sz="2100" b="0" i="0">
                          <a:solidFill>
                            <a:srgbClr val="10141A"/>
                          </a:solidFill>
                          <a:latin typeface="Arial"/>
                        </a:rPr>
                        <a:t>EQ-5D-Y, five-level</a:t>
                      </a:r>
                    </a:p>
                  </a:txBody>
                  <a:tcPr marL="60000" marR="60000" marT="35000" marB="35000" anchor="t">
                    <a:noFill/>
                  </a:tcPr>
                </a:tc>
              </a:tr>
              <a:tr h="544085">
                <a:tc>
                  <a:txBody>
                    <a:bodyPr wrap="square"/>
                    <a:lstStyle/>
                    <a:p>
                      <a:pPr algn="l">
                        <a:lnSpc>
                          <a:spcPct val="104000"/>
                        </a:lnSpc>
                      </a:pPr>
                      <a:r>
                        <a:rPr sz="2100" b="0" i="0">
                          <a:solidFill>
                            <a:srgbClr val="10141A"/>
                          </a:solidFill>
                          <a:latin typeface="Arial"/>
                        </a:rPr>
                        <a:t>4 to 15 years, valuation</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the Indian </a:t>
                      </a:r>
                      <a:r>
                        <a:rPr sz="2100" b="0" i="1">
                          <a:solidFill>
                            <a:srgbClr val="10141A"/>
                          </a:solidFill>
                          <a:latin typeface="Arial"/>
                        </a:rPr>
                        <a:t>adult</a:t>
                      </a:r>
                      <a:r>
                        <a:rPr sz="2100" b="0" i="0">
                          <a:solidFill>
                            <a:srgbClr val="10141A"/>
                          </a:solidFill>
                          <a:latin typeface="Arial"/>
                        </a:rPr>
                        <a:t> value set, until a paediatric one exists</a:t>
                      </a:r>
                    </a:p>
                  </a:txBody>
                  <a:tcPr marL="60000" marR="60000" marT="35000" marB="35000" anchor="t">
                    <a:solidFill>
                      <a:srgbClr val="F4F6F9"/>
                    </a:solidFill>
                  </a:tcPr>
                </a:tc>
              </a:tr>
              <a:tr h="544089">
                <a:tc>
                  <a:txBody>
                    <a:bodyPr wrap="square"/>
                    <a:lstStyle/>
                    <a:p>
                      <a:pPr algn="l">
                        <a:lnSpc>
                          <a:spcPct val="104000"/>
                        </a:lnSpc>
                      </a:pPr>
                      <a:r>
                        <a:rPr sz="2100" b="0" i="0">
                          <a:solidFill>
                            <a:srgbClr val="10141A"/>
                          </a:solidFill>
                          <a:latin typeface="Arial"/>
                        </a:rPr>
                        <a:t>Under 4 years</a:t>
                      </a:r>
                    </a:p>
                  </a:txBody>
                  <a:tcPr marL="60000" marR="60000" marT="35000" marB="35000" anchor="t">
                    <a:noFill/>
                  </a:tcPr>
                </a:tc>
                <a:tc>
                  <a:txBody>
                    <a:bodyPr wrap="square"/>
                    <a:lstStyle/>
                    <a:p>
                      <a:pPr algn="l">
                        <a:lnSpc>
                          <a:spcPct val="104000"/>
                        </a:lnSpc>
                      </a:pPr>
                      <a:r>
                        <a:rPr sz="2100" b="0" i="0">
                          <a:solidFill>
                            <a:srgbClr val="10141A"/>
                          </a:solidFill>
                          <a:latin typeface="Arial"/>
                        </a:rPr>
                        <a:t>DALYs permitted, using GBD disability weights</a:t>
                      </a:r>
                    </a:p>
                  </a:txBody>
                  <a:tcPr marL="60000" marR="60000" marT="35000" marB="35000" anchor="t">
                    <a:noFill/>
                  </a:tcPr>
                </a:tc>
              </a:tr>
            </a:tbl>
          </a:graphicData>
        </a:graphic>
      </p:graphicFrame>
      <p:sp>
        <p:nvSpPr>
          <p:cNvPr id="9" name="Rectangle 8"/>
          <p:cNvSpPr/>
          <p:nvPr/>
        </p:nvSpPr>
        <p:spPr>
          <a:xfrm>
            <a:off x="552450" y="6143923"/>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6212743"/>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Jyani, Sharma, Prinja, Kar et al., </a:t>
            </a:r>
            <a:r>
              <a:rPr sz="1400" b="0" i="1">
                <a:solidFill>
                  <a:srgbClr val="75808D"/>
                </a:solidFill>
                <a:latin typeface="Arial"/>
              </a:rPr>
              <a:t>Value in Health</a:t>
            </a:r>
            <a:r>
              <a:rPr sz="1400" b="0" i="0">
                <a:solidFill>
                  <a:srgbClr val="75808D"/>
                </a:solidFill>
                <a:latin typeface="Arial"/>
              </a:rPr>
              <a:t>,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QALYs are not DALYs</a:t>
            </a:r>
          </a:p>
        </p:txBody>
      </p:sp>
      <p:sp>
        <p:nvSpPr>
          <p:cNvPr id="4" name="Rectangle 3"/>
          <p:cNvSpPr/>
          <p:nvPr/>
        </p:nvSpPr>
        <p:spPr>
          <a:xfrm>
            <a:off x="552450"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894433"/>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QALY, gained</a:t>
            </a:r>
          </a:p>
        </p:txBody>
      </p:sp>
      <p:sp>
        <p:nvSpPr>
          <p:cNvPr id="7" name="TextBox 6"/>
          <p:cNvSpPr txBox="1"/>
          <p:nvPr/>
        </p:nvSpPr>
        <p:spPr>
          <a:xfrm>
            <a:off x="803672"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Health </a:t>
            </a:r>
            <a:r>
              <a:rPr sz="2200" b="0" i="1">
                <a:solidFill>
                  <a:srgbClr val="10141A"/>
                </a:solidFill>
                <a:latin typeface="Arial"/>
              </a:rPr>
              <a:t>produced</a:t>
            </a:r>
            <a:r>
              <a:rPr sz="2200" b="0" i="0">
                <a:solidFill>
                  <a:srgbClr val="10141A"/>
                </a:solidFill>
                <a:latin typeface="Arial"/>
              </a:rPr>
              <a:t>. Preference-based weights from 0 to 1, usually from the general public. You maximise it.</a:t>
            </a:r>
          </a:p>
        </p:txBody>
      </p:sp>
      <p:sp>
        <p:nvSpPr>
          <p:cNvPr id="8" name="Rectangle 7"/>
          <p:cNvSpPr/>
          <p:nvPr/>
        </p:nvSpPr>
        <p:spPr>
          <a:xfrm>
            <a:off x="6175921"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1894433"/>
          </a:xfrm>
          <a:prstGeom prst="rect">
            <a:avLst/>
          </a:prstGeom>
          <a:solidFill>
            <a:srgbClr val="A322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DALY, averted</a:t>
            </a:r>
          </a:p>
        </p:txBody>
      </p:sp>
      <p:sp>
        <p:nvSpPr>
          <p:cNvPr id="11" name="TextBox 10"/>
          <p:cNvSpPr txBox="1"/>
          <p:nvPr/>
        </p:nvSpPr>
        <p:spPr>
          <a:xfrm>
            <a:off x="6427143"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Health </a:t>
            </a:r>
            <a:r>
              <a:rPr sz="2200" b="0" i="1">
                <a:solidFill>
                  <a:srgbClr val="10141A"/>
                </a:solidFill>
                <a:latin typeface="Arial"/>
              </a:rPr>
              <a:t>lost</a:t>
            </a:r>
            <a:r>
              <a:rPr sz="2200" b="0" i="0">
                <a:solidFill>
                  <a:srgbClr val="10141A"/>
                </a:solidFill>
                <a:latin typeface="Arial"/>
              </a:rPr>
              <a:t>. Disability weights plus years of life lost against a reference life expectancy. You minimise it.</a:t>
            </a:r>
          </a:p>
        </p:txBody>
      </p:sp>
      <p:sp>
        <p:nvSpPr>
          <p:cNvPr id="12" name="Rectangle 11"/>
          <p:cNvSpPr/>
          <p:nvPr/>
        </p:nvSpPr>
        <p:spPr>
          <a:xfrm>
            <a:off x="552450" y="325978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259782"/>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326012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"ICER per DALY averted is not directly equivalent to ICER per QALY gained."</a:t>
            </a:r>
          </a:p>
        </p:txBody>
      </p:sp>
      <p:sp>
        <p:nvSpPr>
          <p:cNvPr id="15" name="TextBox 14"/>
          <p:cNvSpPr txBox="1"/>
          <p:nvPr/>
        </p:nvSpPr>
        <p:spPr>
          <a:xfrm>
            <a:off x="552450" y="445570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Recall Block 2: the Indian league table mixed 70% DALY studies with 30% QALY studies. Now you know why that table cannot be read straight down the column.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8</a:t>
            </a:r>
            <a:r>
              <a:rPr sz="3000" b="1" i="0" spc="-15">
                <a:solidFill>
                  <a:srgbClr val="FFFFFF"/>
                </a:solidFill>
                <a:latin typeface="Arial"/>
              </a:rPr>
              <a:t> Discounting</a:t>
            </a:r>
          </a:p>
        </p:txBody>
      </p:sp>
      <p:sp>
        <p:nvSpPr>
          <p:cNvPr id="4" name="TextBox 3"/>
          <p:cNvSpPr txBox="1"/>
          <p:nvPr/>
        </p:nvSpPr>
        <p:spPr>
          <a:xfrm>
            <a:off x="552450" y="1142050"/>
            <a:ext cx="11087100" cy="2056209"/>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 rupee next year is worth less than a rupee today. So, the argument goes, is a QALY. Discounting converts future costs and health into present values, so programmes with different timing can be compared at all.</a:t>
            </a:r>
          </a:p>
        </p:txBody>
      </p:sp>
      <p:sp>
        <p:nvSpPr>
          <p:cNvPr id="5" name="Rectangle 4"/>
          <p:cNvSpPr/>
          <p:nvPr/>
        </p:nvSpPr>
        <p:spPr>
          <a:xfrm>
            <a:off x="552450" y="3408611"/>
            <a:ext cx="3589139" cy="189502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3408611"/>
            <a:ext cx="38100" cy="189502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5620" y="3548488"/>
            <a:ext cx="3162800" cy="1735151"/>
          </a:xfrm>
          <a:prstGeom prst="rect">
            <a:avLst/>
          </a:prstGeom>
          <a:noFill/>
        </p:spPr>
        <p:txBody>
          <a:bodyPr wrap="square" lIns="0" rIns="0" tIns="0" bIns="0">
            <a:spAutoFit/>
          </a:bodyPr>
          <a:lstStyle/>
          <a:p>
            <a:pPr algn="ctr">
              <a:lnSpc>
                <a:spcPct val="83300"/>
              </a:lnSpc>
              <a:spcAft>
                <a:spcPts val="400"/>
              </a:spcAft>
              <a:buNone/>
            </a:pPr>
            <a:r>
              <a:rPr sz="2800" b="1" i="0">
                <a:solidFill>
                  <a:srgbClr val="10141A"/>
                </a:solidFill>
                <a:latin typeface="Arial"/>
              </a:rPr>
              <a:t>3%</a:t>
            </a:r>
          </a:p>
          <a:p>
            <a:pPr algn="ctr">
              <a:lnSpc>
                <a:spcPct val="83300"/>
              </a:lnSpc>
              <a:spcAft>
                <a:spcPts val="400"/>
              </a:spcAft>
              <a:buNone/>
            </a:pPr>
            <a:r>
              <a:rPr sz="2200" b="0" i="0">
                <a:solidFill>
                  <a:srgbClr val="47525F"/>
                </a:solidFill>
                <a:latin typeface="Arial"/>
              </a:rPr>
              <a:t>India, costs and outcomes, beyond one year</a:t>
            </a:r>
          </a:p>
        </p:txBody>
      </p:sp>
      <p:sp>
        <p:nvSpPr>
          <p:cNvPr id="8" name="Rectangle 7"/>
          <p:cNvSpPr/>
          <p:nvPr/>
        </p:nvSpPr>
        <p:spPr>
          <a:xfrm>
            <a:off x="4301430" y="3408611"/>
            <a:ext cx="3589139" cy="189502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3408611"/>
            <a:ext cx="38100" cy="189502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14600" y="3548488"/>
            <a:ext cx="3162800" cy="1735151"/>
          </a:xfrm>
          <a:prstGeom prst="rect">
            <a:avLst/>
          </a:prstGeom>
          <a:noFill/>
        </p:spPr>
        <p:txBody>
          <a:bodyPr wrap="square" lIns="0" rIns="0" tIns="0" bIns="0">
            <a:spAutoFit/>
          </a:bodyPr>
          <a:lstStyle/>
          <a:p>
            <a:pPr algn="ctr">
              <a:lnSpc>
                <a:spcPct val="83300"/>
              </a:lnSpc>
              <a:spcAft>
                <a:spcPts val="400"/>
              </a:spcAft>
              <a:buNone/>
            </a:pPr>
            <a:r>
              <a:rPr sz="2800" b="1" i="0">
                <a:solidFill>
                  <a:srgbClr val="10141A"/>
                </a:solidFill>
                <a:latin typeface="Arial"/>
              </a:rPr>
              <a:t>0% to 5%</a:t>
            </a:r>
          </a:p>
          <a:p>
            <a:pPr algn="ctr">
              <a:lnSpc>
                <a:spcPct val="83300"/>
              </a:lnSpc>
              <a:spcAft>
                <a:spcPts val="400"/>
              </a:spcAft>
              <a:buNone/>
            </a:pPr>
            <a:r>
              <a:rPr sz="2200" b="0" i="0">
                <a:solidFill>
                  <a:srgbClr val="47525F"/>
                </a:solidFill>
                <a:latin typeface="Arial"/>
              </a:rPr>
              <a:t>the range to test in sensitivity analysis</a:t>
            </a:r>
          </a:p>
        </p:txBody>
      </p:sp>
      <p:sp>
        <p:nvSpPr>
          <p:cNvPr id="11" name="Rectangle 10"/>
          <p:cNvSpPr/>
          <p:nvPr/>
        </p:nvSpPr>
        <p:spPr>
          <a:xfrm>
            <a:off x="8050411" y="3408611"/>
            <a:ext cx="3589139" cy="189502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50411" y="3408611"/>
            <a:ext cx="38100" cy="189502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3580" y="3548488"/>
            <a:ext cx="3162800" cy="1735151"/>
          </a:xfrm>
          <a:prstGeom prst="rect">
            <a:avLst/>
          </a:prstGeom>
          <a:noFill/>
        </p:spPr>
        <p:txBody>
          <a:bodyPr wrap="square" lIns="0" rIns="0" tIns="0" bIns="0">
            <a:spAutoFit/>
          </a:bodyPr>
          <a:lstStyle/>
          <a:p>
            <a:pPr algn="ctr">
              <a:lnSpc>
                <a:spcPct val="83300"/>
              </a:lnSpc>
              <a:spcAft>
                <a:spcPts val="400"/>
              </a:spcAft>
              <a:buNone/>
            </a:pPr>
            <a:r>
              <a:rPr sz="2800" b="1" i="0">
                <a:solidFill>
                  <a:srgbClr val="10141A"/>
                </a:solidFill>
                <a:latin typeface="Arial"/>
              </a:rPr>
              <a:t>undiscounted</a:t>
            </a:r>
          </a:p>
          <a:p>
            <a:pPr algn="ctr">
              <a:lnSpc>
                <a:spcPct val="83300"/>
              </a:lnSpc>
              <a:spcAft>
                <a:spcPts val="400"/>
              </a:spcAft>
              <a:buNone/>
            </a:pPr>
            <a:r>
              <a:rPr sz="2200" b="0" i="0">
                <a:solidFill>
                  <a:srgbClr val="47525F"/>
                </a:solidFill>
                <a:latin typeface="Arial"/>
              </a:rPr>
              <a:t>report these too, for every scenario</a:t>
            </a:r>
          </a:p>
        </p:txBody>
      </p:sp>
      <p:sp>
        <p:nvSpPr>
          <p:cNvPr id="14" name="Rectangle 13"/>
          <p:cNvSpPr/>
          <p:nvPr/>
        </p:nvSpPr>
        <p:spPr>
          <a:xfrm>
            <a:off x="552450" y="550693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2450" y="5506938"/>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6189" y="550727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3% is chosen partly so Indian results can be compared with everyone else's.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What a discount rate does to prevention</a:t>
            </a:r>
          </a:p>
        </p:txBody>
      </p:sp>
      <p:pic>
        <p:nvPicPr>
          <p:cNvPr id="4" name="Picture 3" descr="block3b-10-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 cost paid at 14, health arriving from 30. Move the rate </a:t>
            </a:r>
            <a:r>
              <a:rPr sz="2200" b="1" i="0">
                <a:solidFill>
                  <a:srgbClr val="10141A"/>
                </a:solidFill>
                <a:latin typeface="Arial"/>
              </a:rPr>
              <a:t>0% to 5%</a:t>
            </a:r>
            <a:r>
              <a:rPr sz="2200" b="0" i="0">
                <a:solidFill>
                  <a:srgbClr val="10141A"/>
                </a:solidFill>
                <a:latin typeface="Arial"/>
              </a:rPr>
              <a:t> and read the two "retained" figures: the cost barely moves, the health falls away.</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Which is why prevention looks worse at any given rate · </a:t>
            </a:r>
            <a:r>
              <a:rPr sz="1400" b="1" i="0">
                <a:solidFill>
                  <a:srgbClr val="10141A"/>
                </a:solidFill>
                <a:latin typeface="Arial"/>
              </a:rPr>
              <a:t>sph-aiimsbhopal.github.io/intro-economic-evaluation-health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discounting health is contested</a:t>
            </a:r>
          </a:p>
        </p:txBody>
      </p:sp>
      <p:sp>
        <p:nvSpPr>
          <p:cNvPr id="4" name="Rectangle 3"/>
          <p:cNvSpPr/>
          <p:nvPr/>
        </p:nvSpPr>
        <p:spPr>
          <a:xfrm>
            <a:off x="552450" y="1162050"/>
            <a:ext cx="5463629" cy="306690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306690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The objection</a:t>
            </a:r>
          </a:p>
        </p:txBody>
      </p:sp>
      <p:sp>
        <p:nvSpPr>
          <p:cNvPr id="7" name="TextBox 6"/>
          <p:cNvSpPr txBox="1"/>
          <p:nvPr/>
        </p:nvSpPr>
        <p:spPr>
          <a:xfrm>
            <a:off x="803672" y="1694649"/>
            <a:ext cx="4989761"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Discounting health at the same rate as money disadvantages prevention, and therefore the young, whose benefits arrive furthest in the future. Some argue health should be discounted less, or not at all.</a:t>
            </a:r>
          </a:p>
        </p:txBody>
      </p:sp>
      <p:sp>
        <p:nvSpPr>
          <p:cNvPr id="8" name="Rectangle 7"/>
          <p:cNvSpPr/>
          <p:nvPr/>
        </p:nvSpPr>
        <p:spPr>
          <a:xfrm>
            <a:off x="6175921" y="1162050"/>
            <a:ext cx="5463629" cy="306690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306690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The reply</a:t>
            </a:r>
          </a:p>
        </p:txBody>
      </p:sp>
      <p:sp>
        <p:nvSpPr>
          <p:cNvPr id="11" name="TextBox 10"/>
          <p:cNvSpPr txBox="1"/>
          <p:nvPr/>
        </p:nvSpPr>
        <p:spPr>
          <a:xfrm>
            <a:off x="6427143" y="1694649"/>
            <a:ext cx="4989761"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If health is discounted less than money, then delaying any programme by a year makes it look better, and you could generate unlimited apparent gain by never starting. That is absurd, so the rates should match.</a:t>
            </a:r>
          </a:p>
        </p:txBody>
      </p:sp>
      <p:sp>
        <p:nvSpPr>
          <p:cNvPr id="12" name="Rectangle 11"/>
          <p:cNvSpPr/>
          <p:nvPr/>
        </p:nvSpPr>
        <p:spPr>
          <a:xfrm>
            <a:off x="552450" y="44322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443225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44325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Neither side has won. State your rate, test it, and report undiscounted results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ICER, written out</a:t>
            </a:r>
          </a:p>
        </p:txBody>
      </p:sp>
      <p:pic>
        <p:nvPicPr>
          <p:cNvPr id="4" name="Picture 3" descr="block3b-12-0.png"/>
          <p:cNvPicPr>
            <a:picLocks noChangeAspect="1"/>
          </p:cNvPicPr>
          <p:nvPr/>
        </p:nvPicPr>
        <p:blipFill>
          <a:blip r:embed="rId2"/>
          <a:stretch>
            <a:fillRect/>
          </a:stretch>
        </p:blipFill>
        <p:spPr>
          <a:xfrm>
            <a:off x="552450" y="1162050"/>
            <a:ext cx="11087100" cy="1459111"/>
          </a:xfrm>
          <a:prstGeom prst="rect">
            <a:avLst/>
          </a:prstGeom>
        </p:spPr>
      </p:pic>
      <p:sp>
        <p:nvSpPr>
          <p:cNvPr id="5" name="TextBox 4"/>
          <p:cNvSpPr txBox="1"/>
          <p:nvPr/>
        </p:nvSpPr>
        <p:spPr>
          <a:xfrm>
            <a:off x="552450" y="2690607"/>
            <a:ext cx="11087100" cy="358080"/>
          </a:xfrm>
          <a:prstGeom prst="rect">
            <a:avLst/>
          </a:prstGeom>
          <a:noFill/>
        </p:spPr>
        <p:txBody>
          <a:bodyPr wrap="square" lIns="0" rIns="0" tIns="0" bIns="0">
            <a:spAutoFit/>
          </a:bodyPr>
          <a:lstStyle/>
          <a:p>
            <a:pPr algn="ctr">
              <a:lnSpc>
                <a:spcPct val="116700"/>
              </a:lnSpc>
              <a:spcAft>
                <a:spcPts val="0"/>
              </a:spcAft>
              <a:buNone/>
            </a:pPr>
            <a:r>
              <a:rPr sz="2010" b="0" i="0">
                <a:solidFill>
                  <a:srgbClr val="47525F"/>
                </a:solidFill>
                <a:latin typeface="Arial"/>
              </a:rPr>
              <a:t>1 is the new option, 0 the comparator. </a:t>
            </a:r>
            <a:r>
              <a:rPr sz="2010" b="0" i="1">
                <a:solidFill>
                  <a:srgbClr val="47525F"/>
                </a:solidFill>
                <a:latin typeface="Arial"/>
              </a:rPr>
              <a:t>C</a:t>
            </a:r>
            <a:r>
              <a:rPr sz="2010" b="0" i="0">
                <a:solidFill>
                  <a:srgbClr val="47525F"/>
                </a:solidFill>
                <a:latin typeface="Arial"/>
              </a:rPr>
              <a:t> and </a:t>
            </a:r>
            <a:r>
              <a:rPr sz="2010" b="0" i="1">
                <a:solidFill>
                  <a:srgbClr val="47525F"/>
                </a:solidFill>
                <a:latin typeface="Arial"/>
              </a:rPr>
              <a:t>E</a:t>
            </a:r>
            <a:r>
              <a:rPr sz="2010" b="0" i="0">
                <a:solidFill>
                  <a:srgbClr val="47525F"/>
                </a:solidFill>
                <a:latin typeface="Arial"/>
              </a:rPr>
              <a:t> are discounted totals per person.</a:t>
            </a:r>
          </a:p>
        </p:txBody>
      </p:sp>
      <p:graphicFrame>
        <p:nvGraphicFramePr>
          <p:cNvPr id="6" name="Table 5"/>
          <p:cNvGraphicFramePr>
            <a:graphicFrameLocks noGrp="1"/>
          </p:cNvGraphicFramePr>
          <p:nvPr/>
        </p:nvGraphicFramePr>
        <p:xfrm>
          <a:off x="552450" y="3145334"/>
          <a:ext cx="11087100" cy="2742902"/>
        </p:xfrm>
        <a:graphic>
          <a:graphicData uri="http://schemas.openxmlformats.org/drawingml/2006/table">
            <a:tbl>
              <a:tblPr firstRow="1">
                <a:tableStyleId>{5C22544A-7EE6-4342-B048-85BDC9FD1C3A}</a:tableStyleId>
              </a:tblPr>
              <a:tblGrid>
                <a:gridCol w="3818186"/>
                <a:gridCol w="3482280"/>
                <a:gridCol w="3786634"/>
              </a:tblGrid>
              <a:tr h="685725">
                <a:tc>
                  <a:txBody>
                    <a:bodyPr wrap="square"/>
                    <a:lstStyle/>
                    <a:p>
                      <a:pPr algn="l">
                        <a:lnSpc>
                          <a:spcPct val="104000"/>
                        </a:lnSpc>
                      </a:pPr>
                      <a:r>
                        <a:rPr sz="2100" b="1" i="0">
                          <a:solidFill>
                            <a:srgbClr val="FFFFFF"/>
                          </a:solidFill>
                          <a:latin typeface="Arial"/>
                        </a:rPr>
                        <a:t>Unit of </a:t>
                      </a:r>
                      <a:r>
                        <a:rPr sz="2100" b="1" i="1">
                          <a:solidFill>
                            <a:srgbClr val="FFFFFF"/>
                          </a:solidFill>
                          <a:latin typeface="Arial"/>
                        </a:rPr>
                        <a:t>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the ICER is then called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Read as</a:t>
                      </a:r>
                    </a:p>
                  </a:txBody>
                  <a:tcPr marL="60000" marR="60000" marT="35000" marB="35000" anchor="t">
                    <a:solidFill>
                      <a:srgbClr val="162A6C"/>
                    </a:solidFill>
                  </a:tcPr>
                </a:tc>
              </a:tr>
              <a:tr h="685725">
                <a:tc>
                  <a:txBody>
                    <a:bodyPr wrap="square"/>
                    <a:lstStyle/>
                    <a:p>
                      <a:pPr algn="l">
                        <a:lnSpc>
                          <a:spcPct val="104000"/>
                        </a:lnSpc>
                      </a:pPr>
                      <a:r>
                        <a:rPr sz="2100" b="0" i="0">
                          <a:solidFill>
                            <a:srgbClr val="10141A"/>
                          </a:solidFill>
                          <a:latin typeface="Arial"/>
                        </a:rPr>
                        <a:t>QALYs gained</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Cost–utility ratio</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 per QALY gained</a:t>
                      </a:r>
                    </a:p>
                  </a:txBody>
                  <a:tcPr marL="60000" marR="60000" marT="35000" marB="35000" anchor="t">
                    <a:solidFill>
                      <a:srgbClr val="F4F6F9"/>
                    </a:solidFill>
                  </a:tcPr>
                </a:tc>
              </a:tr>
              <a:tr h="685725">
                <a:tc>
                  <a:txBody>
                    <a:bodyPr wrap="square"/>
                    <a:lstStyle/>
                    <a:p>
                      <a:pPr algn="l">
                        <a:lnSpc>
                          <a:spcPct val="104000"/>
                        </a:lnSpc>
                      </a:pPr>
                      <a:r>
                        <a:rPr sz="2100" b="0" i="0">
                          <a:solidFill>
                            <a:srgbClr val="10141A"/>
                          </a:solidFill>
                          <a:latin typeface="Arial"/>
                        </a:rPr>
                        <a:t>DALYs averted</a:t>
                      </a:r>
                    </a:p>
                  </a:txBody>
                  <a:tcPr marL="60000" marR="60000" marT="35000" marB="35000" anchor="t">
                    <a:noFill/>
                  </a:tcPr>
                </a:tc>
                <a:tc>
                  <a:txBody>
                    <a:bodyPr wrap="square"/>
                    <a:lstStyle/>
                    <a:p>
                      <a:pPr algn="l">
                        <a:lnSpc>
                          <a:spcPct val="104000"/>
                        </a:lnSpc>
                      </a:pPr>
                      <a:r>
                        <a:rPr sz="2100" b="0" i="0">
                          <a:solidFill>
                            <a:srgbClr val="10141A"/>
                          </a:solidFill>
                          <a:latin typeface="Arial"/>
                        </a:rPr>
                        <a:t>Cost per DALY averted</a:t>
                      </a:r>
                    </a:p>
                  </a:txBody>
                  <a:tcPr marL="60000" marR="60000" marT="35000" marB="35000" anchor="t">
                    <a:noFill/>
                  </a:tcPr>
                </a:tc>
                <a:tc>
                  <a:txBody>
                    <a:bodyPr wrap="square"/>
                    <a:lstStyle/>
                    <a:p>
                      <a:pPr algn="l">
                        <a:lnSpc>
                          <a:spcPct val="104000"/>
                        </a:lnSpc>
                      </a:pPr>
                      <a:r>
                        <a:rPr sz="2100" b="0" i="0">
                          <a:solidFill>
                            <a:srgbClr val="10141A"/>
                          </a:solidFill>
                          <a:latin typeface="Arial"/>
                        </a:rPr>
                        <a:t>₹ per DALY averted</a:t>
                      </a:r>
                    </a:p>
                  </a:txBody>
                  <a:tcPr marL="60000" marR="60000" marT="35000" marB="35000" anchor="t">
                    <a:noFill/>
                  </a:tcPr>
                </a:tc>
              </a:tr>
              <a:tr h="685727">
                <a:tc>
                  <a:txBody>
                    <a:bodyPr wrap="square"/>
                    <a:lstStyle/>
                    <a:p>
                      <a:pPr algn="l">
                        <a:lnSpc>
                          <a:spcPct val="104000"/>
                        </a:lnSpc>
                      </a:pPr>
                      <a:r>
                        <a:rPr sz="2100" b="0" i="0">
                          <a:solidFill>
                            <a:srgbClr val="10141A"/>
                          </a:solidFill>
                          <a:latin typeface="Arial"/>
                        </a:rPr>
                        <a:t>Cases detected, deaths averted</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Cost-effectiveness ratio</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 per case, ₹ per death averted</a:t>
                      </a:r>
                    </a:p>
                  </a:txBody>
                  <a:tcPr marL="60000" marR="60000" marT="35000" marB="35000" anchor="t">
                    <a:solidFill>
                      <a:srgbClr val="F4F6F9"/>
                    </a:solidFill>
                  </a:tcPr>
                </a:tc>
              </a:tr>
            </a:tbl>
          </a:graphicData>
        </a:graphic>
      </p:graphicFrame>
      <p:sp>
        <p:nvSpPr>
          <p:cNvPr id="7" name="Rectangle 6"/>
          <p:cNvSpPr/>
          <p:nvPr/>
        </p:nvSpPr>
        <p:spPr>
          <a:xfrm>
            <a:off x="552450" y="6010275"/>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2450" y="6010275"/>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6189" y="6010615"/>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Same formula. Only the denominator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Three ways it goes wrong</a:t>
            </a:r>
          </a:p>
        </p:txBody>
      </p:sp>
      <p:sp>
        <p:nvSpPr>
          <p:cNvPr id="4" name="Rectangle 3"/>
          <p:cNvSpPr/>
          <p:nvPr/>
        </p:nvSpPr>
        <p:spPr>
          <a:xfrm>
            <a:off x="552450"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676079"/>
          </a:xfrm>
          <a:prstGeom prst="rect">
            <a:avLst/>
          </a:prstGeom>
          <a:solidFill>
            <a:srgbClr val="A322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Divide by totals</a:t>
            </a:r>
          </a:p>
        </p:txBody>
      </p:sp>
      <p:sp>
        <p:nvSpPr>
          <p:cNvPr id="7" name="TextBox 6"/>
          <p:cNvSpPr txBox="1"/>
          <p:nvPr/>
        </p:nvSpPr>
        <p:spPr>
          <a:xfrm>
            <a:off x="803672" y="1694649"/>
            <a:ext cx="3115270" cy="162073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Using </a:t>
            </a:r>
            <a:r>
              <a:rPr sz="2200" b="0" i="1">
                <a:solidFill>
                  <a:srgbClr val="10141A"/>
                </a:solidFill>
                <a:latin typeface="Arial"/>
              </a:rPr>
              <a:t>C</a:t>
            </a:r>
            <a:r>
              <a:rPr sz="1830" b="0" i="0">
                <a:solidFill>
                  <a:srgbClr val="10141A"/>
                </a:solidFill>
                <a:latin typeface="Arial"/>
              </a:rPr>
              <a:t>1</a:t>
            </a:r>
            <a:r>
              <a:rPr sz="2200" b="0" i="0">
                <a:solidFill>
                  <a:srgbClr val="10141A"/>
                </a:solidFill>
                <a:latin typeface="Arial"/>
              </a:rPr>
              <a:t> ÷ </a:t>
            </a:r>
            <a:r>
              <a:rPr sz="2200" b="0" i="1">
                <a:solidFill>
                  <a:srgbClr val="10141A"/>
                </a:solidFill>
                <a:latin typeface="Arial"/>
              </a:rPr>
              <a:t>E</a:t>
            </a:r>
            <a:r>
              <a:rPr sz="1830" b="0" i="0">
                <a:solidFill>
                  <a:srgbClr val="10141A"/>
                </a:solidFill>
                <a:latin typeface="Arial"/>
              </a:rPr>
              <a:t>1</a:t>
            </a:r>
            <a:r>
              <a:rPr sz="2200" b="0" i="0">
                <a:solidFill>
                  <a:srgbClr val="10141A"/>
                </a:solidFill>
                <a:latin typeface="Arial"/>
              </a:rPr>
              <a:t> instead of the differences. Gives an absurdly small number, as on the next slide.</a:t>
            </a:r>
          </a:p>
        </p:txBody>
      </p:sp>
      <p:sp>
        <p:nvSpPr>
          <p:cNvPr id="8" name="Rectangle 7"/>
          <p:cNvSpPr/>
          <p:nvPr/>
        </p:nvSpPr>
        <p:spPr>
          <a:xfrm>
            <a:off x="4301430"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162050"/>
            <a:ext cx="38100" cy="2676079"/>
          </a:xfrm>
          <a:prstGeom prst="rect">
            <a:avLst/>
          </a:prstGeom>
          <a:solidFill>
            <a:srgbClr val="A322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265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Δ</a:t>
            </a:r>
            <a:r>
              <a:rPr sz="2320" b="1" i="1" spc="-23">
                <a:solidFill>
                  <a:srgbClr val="1B3E8F"/>
                </a:solidFill>
                <a:latin typeface="Arial"/>
              </a:rPr>
              <a:t>E</a:t>
            </a:r>
            <a:r>
              <a:rPr sz="2320" b="1" i="0" spc="-23">
                <a:solidFill>
                  <a:srgbClr val="1B3E8F"/>
                </a:solidFill>
                <a:latin typeface="Arial"/>
              </a:rPr>
              <a:t> near zero</a:t>
            </a:r>
          </a:p>
        </p:txBody>
      </p:sp>
      <p:sp>
        <p:nvSpPr>
          <p:cNvPr id="11" name="TextBox 10"/>
          <p:cNvSpPr txBox="1"/>
          <p:nvPr/>
        </p:nvSpPr>
        <p:spPr>
          <a:xfrm>
            <a:off x="4552652" y="1694649"/>
            <a:ext cx="3115270"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ratio explodes, or is undefined at exactly zero. The two options may still differ in cost, which matters.</a:t>
            </a:r>
          </a:p>
        </p:txBody>
      </p:sp>
      <p:sp>
        <p:nvSpPr>
          <p:cNvPr id="12" name="Rectangle 11"/>
          <p:cNvSpPr/>
          <p:nvPr/>
        </p:nvSpPr>
        <p:spPr>
          <a:xfrm>
            <a:off x="8050411" y="1162050"/>
            <a:ext cx="358913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1162050"/>
            <a:ext cx="38100" cy="2676079"/>
          </a:xfrm>
          <a:prstGeom prst="rect">
            <a:avLst/>
          </a:prstGeom>
          <a:solidFill>
            <a:srgbClr val="A322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1633"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Sign blindness</a:t>
            </a:r>
          </a:p>
        </p:txBody>
      </p:sp>
      <p:sp>
        <p:nvSpPr>
          <p:cNvPr id="15" name="TextBox 14"/>
          <p:cNvSpPr txBox="1"/>
          <p:nvPr/>
        </p:nvSpPr>
        <p:spPr>
          <a:xfrm>
            <a:off x="8301633" y="1694649"/>
            <a:ext cx="3115270"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Δ</a:t>
            </a:r>
            <a:r>
              <a:rPr sz="2200" b="0" i="1">
                <a:solidFill>
                  <a:srgbClr val="10141A"/>
                </a:solidFill>
                <a:latin typeface="Arial"/>
              </a:rPr>
              <a:t>C</a:t>
            </a:r>
            <a:r>
              <a:rPr sz="2200" b="0" i="0">
                <a:solidFill>
                  <a:srgbClr val="10141A"/>
                </a:solidFill>
                <a:latin typeface="Arial"/>
              </a:rPr>
              <a:t> ÷ Δ</a:t>
            </a:r>
            <a:r>
              <a:rPr sz="2200" b="0" i="1">
                <a:solidFill>
                  <a:srgbClr val="10141A"/>
                </a:solidFill>
                <a:latin typeface="Arial"/>
              </a:rPr>
              <a:t>E</a:t>
            </a:r>
            <a:r>
              <a:rPr sz="2200" b="0" i="0">
                <a:solidFill>
                  <a:srgbClr val="10141A"/>
                </a:solidFill>
                <a:latin typeface="Arial"/>
              </a:rPr>
              <a:t> is the same number whether both are positive or both negative, and those are opposite decisions.</a:t>
            </a:r>
          </a:p>
        </p:txBody>
      </p:sp>
      <p:sp>
        <p:nvSpPr>
          <p:cNvPr id="16" name="TextBox 15"/>
          <p:cNvSpPr txBox="1"/>
          <p:nvPr/>
        </p:nvSpPr>
        <p:spPr>
          <a:xfrm>
            <a:off x="552450" y="390177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 negative ICER is uninterpretable on its own. You have to go back and look at the signs of Δ</a:t>
            </a:r>
            <a:r>
              <a:rPr sz="2200" b="0" i="1">
                <a:solidFill>
                  <a:srgbClr val="47525F"/>
                </a:solidFill>
                <a:latin typeface="Arial"/>
              </a:rPr>
              <a:t>C</a:t>
            </a:r>
            <a:r>
              <a:rPr sz="2200" b="0" i="0">
                <a:solidFill>
                  <a:srgbClr val="47525F"/>
                </a:solidFill>
                <a:latin typeface="Arial"/>
              </a:rPr>
              <a:t> and Δ</a:t>
            </a:r>
            <a:r>
              <a:rPr sz="2200" b="0" i="1">
                <a:solidFill>
                  <a:srgbClr val="47525F"/>
                </a:solidFill>
                <a:latin typeface="Arial"/>
              </a:rPr>
              <a:t>E</a:t>
            </a:r>
            <a:r>
              <a:rPr sz="2200" b="0" i="0">
                <a:solidFill>
                  <a:srgbClr val="47525F"/>
                </a:solidFill>
                <a:latin typeface="Arial"/>
              </a:rPr>
              <a:t> separately.</a:t>
            </a:r>
          </a:p>
        </p:txBody>
      </p:sp>
      <p:sp>
        <p:nvSpPr>
          <p:cNvPr id="17" name="Rectangle 16"/>
          <p:cNvSpPr/>
          <p:nvPr/>
        </p:nvSpPr>
        <p:spPr>
          <a:xfrm>
            <a:off x="552450" y="4843016"/>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2450" y="4843016"/>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6189" y="4843356"/>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Net monetary benefit fixes all three. We get to it shortly.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Average is not incremental</a:t>
            </a:r>
          </a:p>
        </p:txBody>
      </p:sp>
      <p:sp>
        <p:nvSpPr>
          <p:cNvPr id="4" name="TextBox 3"/>
          <p:cNvSpPr txBox="1"/>
          <p:nvPr/>
        </p:nvSpPr>
        <p:spPr>
          <a:xfrm>
            <a:off x="552450" y="1142050"/>
            <a:ext cx="11087100" cy="497235"/>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Screening with VIA every five years, over a lifetime, discounted at 3%:</a:t>
            </a:r>
          </a:p>
        </p:txBody>
      </p:sp>
      <p:graphicFrame>
        <p:nvGraphicFramePr>
          <p:cNvPr id="5" name="Table 4"/>
          <p:cNvGraphicFramePr>
            <a:graphicFrameLocks noGrp="1"/>
          </p:cNvGraphicFramePr>
          <p:nvPr/>
        </p:nvGraphicFramePr>
        <p:xfrm>
          <a:off x="552450" y="1836837"/>
          <a:ext cx="11087100" cy="1581001"/>
        </p:xfrm>
        <a:graphic>
          <a:graphicData uri="http://schemas.openxmlformats.org/drawingml/2006/table">
            <a:tbl>
              <a:tblPr firstRow="1">
                <a:tableStyleId>{5C22544A-7EE6-4342-B048-85BDC9FD1C3A}</a:tableStyleId>
              </a:tblPr>
              <a:tblGrid>
                <a:gridCol w="4789884"/>
                <a:gridCol w="2397472"/>
                <a:gridCol w="1185565"/>
                <a:gridCol w="2714179"/>
              </a:tblGrid>
              <a:tr h="527000">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Cost per woman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QALYs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Ratio</a:t>
                      </a:r>
                    </a:p>
                  </a:txBody>
                  <a:tcPr marL="60000" marR="60000" marT="35000" marB="35000" anchor="t">
                    <a:solidFill>
                      <a:srgbClr val="162A6C"/>
                    </a:solidFill>
                  </a:tcPr>
                </a:tc>
              </a:tr>
              <a:tr h="527000">
                <a:tc>
                  <a:txBody>
                    <a:bodyPr wrap="square"/>
                    <a:lstStyle/>
                    <a:p>
                      <a:pPr algn="l">
                        <a:lnSpc>
                          <a:spcPct val="104000"/>
                        </a:lnSpc>
                      </a:pPr>
                      <a:r>
                        <a:rPr sz="2100" b="1" i="0">
                          <a:solidFill>
                            <a:srgbClr val="10141A"/>
                          </a:solidFill>
                          <a:latin typeface="Arial"/>
                        </a:rPr>
                        <a:t>Average</a:t>
                      </a:r>
                      <a:r>
                        <a:rPr sz="2100" b="0" i="0">
                          <a:solidFill>
                            <a:srgbClr val="10141A"/>
                          </a:solidFill>
                          <a:latin typeface="Arial"/>
                        </a:rPr>
                        <a:t> ratio</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₹4,600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22.530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₹204 per QALY</a:t>
                      </a:r>
                    </a:p>
                  </a:txBody>
                  <a:tcPr marL="60000" marR="60000" marT="35000" marB="35000" anchor="t">
                    <a:solidFill>
                      <a:srgbClr val="F4F6F9"/>
                    </a:solidFill>
                  </a:tcPr>
                </a:tc>
              </a:tr>
              <a:tr h="527001">
                <a:tc>
                  <a:txBody>
                    <a:bodyPr wrap="square"/>
                    <a:lstStyle/>
                    <a:p>
                      <a:pPr algn="l">
                        <a:lnSpc>
                          <a:spcPct val="104000"/>
                        </a:lnSpc>
                      </a:pPr>
                      <a:r>
                        <a:rPr sz="2100" b="1" i="0">
                          <a:solidFill>
                            <a:srgbClr val="10141A"/>
                          </a:solidFill>
                          <a:latin typeface="Arial"/>
                        </a:rPr>
                        <a:t>Incremental</a:t>
                      </a:r>
                      <a:r>
                        <a:rPr sz="2100" b="0" i="0">
                          <a:solidFill>
                            <a:srgbClr val="10141A"/>
                          </a:solidFill>
                          <a:latin typeface="Arial"/>
                        </a:rPr>
                        <a:t> ratio, vs no screening</a:t>
                      </a:r>
                    </a:p>
                  </a:txBody>
                  <a:tcPr marL="60000" marR="60000" marT="35000" marB="35000" anchor="t">
                    <a:noFill/>
                  </a:tcPr>
                </a:tc>
                <a:tc>
                  <a:txBody>
                    <a:bodyPr wrap="square"/>
                    <a:lstStyle/>
                    <a:p>
                      <a:pPr algn="r">
                        <a:lnSpc>
                          <a:spcPct val="104000"/>
                        </a:lnSpc>
                      </a:pPr>
                      <a:r>
                        <a:rPr sz="2100" b="0" i="0">
                          <a:solidFill>
                            <a:srgbClr val="10141A"/>
                          </a:solidFill>
                          <a:latin typeface="Arial"/>
                        </a:rPr>
                        <a:t>₹3,400</a:t>
                      </a:r>
                    </a:p>
                  </a:txBody>
                  <a:tcPr marL="60000" marR="60000" marT="35000" marB="35000" anchor="t">
                    <a:noFill/>
                  </a:tcPr>
                </a:tc>
                <a:tc>
                  <a:txBody>
                    <a:bodyPr wrap="square"/>
                    <a:lstStyle/>
                    <a:p>
                      <a:pPr algn="r">
                        <a:lnSpc>
                          <a:spcPct val="104000"/>
                        </a:lnSpc>
                      </a:pPr>
                      <a:r>
                        <a:rPr sz="2100" b="0" i="0">
                          <a:solidFill>
                            <a:srgbClr val="10141A"/>
                          </a:solidFill>
                          <a:latin typeface="Arial"/>
                        </a:rPr>
                        <a:t>0.130</a:t>
                      </a:r>
                    </a:p>
                  </a:txBody>
                  <a:tcPr marL="60000" marR="60000" marT="35000" marB="35000" anchor="t">
                    <a:noFill/>
                  </a:tcPr>
                </a:tc>
                <a:tc>
                  <a:txBody>
                    <a:bodyPr wrap="square"/>
                    <a:lstStyle/>
                    <a:p>
                      <a:pPr algn="r">
                        <a:lnSpc>
                          <a:spcPct val="104000"/>
                        </a:lnSpc>
                      </a:pPr>
                      <a:r>
                        <a:rPr sz="2100" b="0" i="0">
                          <a:solidFill>
                            <a:srgbClr val="10141A"/>
                          </a:solidFill>
                          <a:latin typeface="Arial"/>
                        </a:rPr>
                        <a:t>₹26,154 per QALY</a:t>
                      </a:r>
                    </a:p>
                  </a:txBody>
                  <a:tcPr marL="60000" marR="60000" marT="35000" marB="35000" anchor="t">
                    <a:noFill/>
                  </a:tcPr>
                </a:tc>
              </a:tr>
            </a:tbl>
          </a:graphicData>
        </a:graphic>
      </p:graphicFrame>
      <p:sp>
        <p:nvSpPr>
          <p:cNvPr id="6" name="Rectangle 5"/>
          <p:cNvSpPr/>
          <p:nvPr/>
        </p:nvSpPr>
        <p:spPr>
          <a:xfrm>
            <a:off x="552450" y="3539877"/>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539877"/>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3540217"/>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₹204 per QALY is not a bargain. It is a meaningless number.</a:t>
            </a:r>
          </a:p>
        </p:txBody>
      </p:sp>
      <p:sp>
        <p:nvSpPr>
          <p:cNvPr id="9" name="TextBox 8"/>
          <p:cNvSpPr txBox="1"/>
          <p:nvPr/>
        </p:nvSpPr>
        <p:spPr>
          <a:xfrm>
            <a:off x="552450" y="4735803"/>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The average ratio divides the programme's cost by her </a:t>
            </a:r>
            <a:r>
              <a:rPr sz="2200" b="0" i="1">
                <a:solidFill>
                  <a:srgbClr val="47525F"/>
                </a:solidFill>
                <a:latin typeface="Arial"/>
              </a:rPr>
              <a:t>entire remaining lifetime</a:t>
            </a:r>
            <a:r>
              <a:rPr sz="2200" b="0" i="0">
                <a:solidFill>
                  <a:srgbClr val="47525F"/>
                </a:solidFill>
                <a:latin typeface="Arial"/>
              </a:rPr>
              <a:t> of quality-adjusted life, almost all of which she would have had anyway. Only the incremental ratio asks what we get for the </a:t>
            </a:r>
            <a:r>
              <a:rPr sz="2200" b="0" i="1">
                <a:solidFill>
                  <a:srgbClr val="47525F"/>
                </a:solidFill>
                <a:latin typeface="Arial"/>
              </a:rPr>
              <a:t>extra</a:t>
            </a:r>
            <a:r>
              <a:rPr sz="2200" b="0" i="0">
                <a:solidFill>
                  <a:srgbClr val="47525F"/>
                </a:solidFill>
                <a:latin typeface="Arial"/>
              </a:rPr>
              <a:t> money.</a:t>
            </a:r>
          </a:p>
        </p:txBody>
      </p:sp>
      <p:sp>
        <p:nvSpPr>
          <p:cNvPr id="10" name="Rectangle 9"/>
          <p:cNvSpPr/>
          <p:nvPr/>
        </p:nvSpPr>
        <p:spPr>
          <a:xfrm>
            <a:off x="552450" y="6067871"/>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6136692"/>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Illustrative figures, constructed for teaching.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Ranking five options</a:t>
            </a:r>
          </a:p>
        </p:txBody>
      </p:sp>
      <p:sp>
        <p:nvSpPr>
          <p:cNvPr id="4" name="TextBox 3"/>
          <p:cNvSpPr txBox="1"/>
          <p:nvPr/>
        </p:nvSpPr>
        <p:spPr>
          <a:xfrm>
            <a:off x="552450" y="114205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Per woman, lifetime, 3% discounting. Ranked by cost, where you always start.</a:t>
            </a:r>
          </a:p>
        </p:txBody>
      </p:sp>
      <p:graphicFrame>
        <p:nvGraphicFramePr>
          <p:cNvPr id="5" name="Table 4"/>
          <p:cNvGraphicFramePr>
            <a:graphicFrameLocks noGrp="1"/>
          </p:cNvGraphicFramePr>
          <p:nvPr/>
        </p:nvGraphicFramePr>
        <p:xfrm>
          <a:off x="552450" y="1692473"/>
          <a:ext cx="11087102" cy="3290143"/>
        </p:xfrm>
        <a:graphic>
          <a:graphicData uri="http://schemas.openxmlformats.org/drawingml/2006/table">
            <a:tbl>
              <a:tblPr firstRow="1">
                <a:tableStyleId>{5C22544A-7EE6-4342-B048-85BDC9FD1C3A}</a:tableStyleId>
              </a:tblPr>
              <a:tblGrid>
                <a:gridCol w="3883075"/>
                <a:gridCol w="1377107"/>
                <a:gridCol w="1350318"/>
                <a:gridCol w="1377107"/>
                <a:gridCol w="1537097"/>
                <a:gridCol w="1562398"/>
              </a:tblGrid>
              <a:tr h="548357">
                <a:tc>
                  <a:txBody>
                    <a:bodyPr wrap="square"/>
                    <a:lstStyle/>
                    <a:p>
                      <a:pPr algn="l">
                        <a:lnSpc>
                          <a:spcPct val="104000"/>
                        </a:lnSpc>
                      </a:pPr>
                      <a:r>
                        <a:rPr sz="2100" b="1" i="0">
                          <a:solidFill>
                            <a:srgbClr val="FFFFFF"/>
                          </a:solidFill>
                          <a:latin typeface="Arial"/>
                        </a:rPr>
                        <a:t>Strategy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Cost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QALYs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ΔCost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ΔQALYs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ICER</a:t>
                      </a:r>
                    </a:p>
                  </a:txBody>
                  <a:tcPr marL="60000" marR="60000" marT="35000" marB="35000" anchor="t">
                    <a:solidFill>
                      <a:srgbClr val="162A6C"/>
                    </a:solidFill>
                  </a:tcPr>
                </a:tc>
              </a:tr>
              <a:tr h="548357">
                <a:tc>
                  <a:txBody>
                    <a:bodyPr wrap="square"/>
                    <a:lstStyle/>
                    <a:p>
                      <a:pPr algn="l">
                        <a:lnSpc>
                          <a:spcPct val="104000"/>
                        </a:lnSpc>
                      </a:pPr>
                      <a:r>
                        <a:rPr sz="2100" b="0" i="0">
                          <a:solidFill>
                            <a:srgbClr val="10141A"/>
                          </a:solidFill>
                          <a:latin typeface="Arial"/>
                        </a:rPr>
                        <a:t>No screening</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₹1,200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22.400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VIA every 10 years</a:t>
                      </a:r>
                    </a:p>
                  </a:txBody>
                  <a:tcPr marL="60000" marR="60000" marT="35000" marB="35000" anchor="t">
                    <a:noFill/>
                  </a:tcPr>
                </a:tc>
                <a:tc>
                  <a:txBody>
                    <a:bodyPr wrap="square"/>
                    <a:lstStyle/>
                    <a:p>
                      <a:pPr algn="r">
                        <a:lnSpc>
                          <a:spcPct val="104000"/>
                        </a:lnSpc>
                      </a:pPr>
                      <a:r>
                        <a:rPr sz="2100" b="0" i="0">
                          <a:solidFill>
                            <a:srgbClr val="10141A"/>
                          </a:solidFill>
                          <a:latin typeface="Arial"/>
                        </a:rPr>
                        <a:t>₹3,400</a:t>
                      </a:r>
                    </a:p>
                  </a:txBody>
                  <a:tcPr marL="60000" marR="60000" marT="35000" marB="35000" anchor="t">
                    <a:noFill/>
                  </a:tcPr>
                </a:tc>
                <a:tc>
                  <a:txBody>
                    <a:bodyPr wrap="square"/>
                    <a:lstStyle/>
                    <a:p>
                      <a:pPr algn="r">
                        <a:lnSpc>
                          <a:spcPct val="104000"/>
                        </a:lnSpc>
                      </a:pPr>
                      <a:r>
                        <a:rPr sz="2100" b="0" i="0">
                          <a:solidFill>
                            <a:srgbClr val="10141A"/>
                          </a:solidFill>
                          <a:latin typeface="Arial"/>
                        </a:rPr>
                        <a:t>22.440</a:t>
                      </a:r>
                    </a:p>
                  </a:txBody>
                  <a:tcPr marL="60000" marR="60000" marT="35000" marB="35000" anchor="t">
                    <a:noFill/>
                  </a:tcPr>
                </a:tc>
                <a:tc>
                  <a:txBody>
                    <a:bodyPr wrap="square"/>
                    <a:lstStyle/>
                    <a:p>
                      <a:pPr algn="r">
                        <a:lnSpc>
                          <a:spcPct val="104000"/>
                        </a:lnSpc>
                      </a:pPr>
                      <a:r>
                        <a:rPr sz="2100" b="0" i="0">
                          <a:solidFill>
                            <a:srgbClr val="10141A"/>
                          </a:solidFill>
                          <a:latin typeface="Arial"/>
                        </a:rPr>
                        <a:t>₹2,200</a:t>
                      </a:r>
                    </a:p>
                  </a:txBody>
                  <a:tcPr marL="60000" marR="60000" marT="35000" marB="35000" anchor="t">
                    <a:noFill/>
                  </a:tcPr>
                </a:tc>
                <a:tc>
                  <a:txBody>
                    <a:bodyPr wrap="square"/>
                    <a:lstStyle/>
                    <a:p>
                      <a:pPr algn="r">
                        <a:lnSpc>
                          <a:spcPct val="104000"/>
                        </a:lnSpc>
                      </a:pPr>
                      <a:r>
                        <a:rPr sz="2100" b="0" i="0">
                          <a:solidFill>
                            <a:srgbClr val="10141A"/>
                          </a:solidFill>
                          <a:latin typeface="Arial"/>
                        </a:rPr>
                        <a:t>0.040</a:t>
                      </a:r>
                    </a:p>
                  </a:txBody>
                  <a:tcPr marL="60000" marR="60000" marT="35000" marB="35000" anchor="t">
                    <a:noFill/>
                  </a:tcPr>
                </a:tc>
                <a:tc>
                  <a:txBody>
                    <a:bodyPr wrap="square"/>
                    <a:lstStyle/>
                    <a:p>
                      <a:pPr algn="r">
                        <a:lnSpc>
                          <a:spcPct val="104000"/>
                        </a:lnSpc>
                      </a:pPr>
                      <a:r>
                        <a:rPr sz="2100" b="0" i="0">
                          <a:solidFill>
                            <a:srgbClr val="10141A"/>
                          </a:solidFill>
                          <a:latin typeface="Arial"/>
                        </a:rPr>
                        <a:t>₹55,000</a:t>
                      </a:r>
                    </a:p>
                  </a:txBody>
                  <a:tcPr marL="60000" marR="60000" marT="35000" marB="35000" anchor="t">
                    <a:noFill/>
                  </a:tcPr>
                </a:tc>
              </a:tr>
              <a:tr h="548357">
                <a:tc>
                  <a:txBody>
                    <a:bodyPr wrap="square"/>
                    <a:lstStyle/>
                    <a:p>
                      <a:pPr algn="l">
                        <a:lnSpc>
                          <a:spcPct val="104000"/>
                        </a:lnSpc>
                      </a:pPr>
                      <a:r>
                        <a:rPr sz="2100" b="0" i="0">
                          <a:solidFill>
                            <a:srgbClr val="10141A"/>
                          </a:solidFill>
                          <a:latin typeface="Arial"/>
                        </a:rPr>
                        <a:t>VIA every 5 years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₹4,600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22.530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₹1,200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0.090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₹13,333</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Cytology every 5 years</a:t>
                      </a:r>
                    </a:p>
                  </a:txBody>
                  <a:tcPr marL="60000" marR="60000" marT="35000" marB="35000" anchor="t">
                    <a:noFill/>
                  </a:tcPr>
                </a:tc>
                <a:tc>
                  <a:txBody>
                    <a:bodyPr wrap="square"/>
                    <a:lstStyle/>
                    <a:p>
                      <a:pPr algn="r">
                        <a:lnSpc>
                          <a:spcPct val="104000"/>
                        </a:lnSpc>
                      </a:pPr>
                      <a:r>
                        <a:rPr sz="2100" b="0" i="0">
                          <a:solidFill>
                            <a:srgbClr val="10141A"/>
                          </a:solidFill>
                          <a:latin typeface="Arial"/>
                        </a:rPr>
                        <a:t>₹6,800</a:t>
                      </a:r>
                    </a:p>
                  </a:txBody>
                  <a:tcPr marL="60000" marR="60000" marT="35000" marB="35000" anchor="t">
                    <a:noFill/>
                  </a:tcPr>
                </a:tc>
                <a:tc>
                  <a:txBody>
                    <a:bodyPr wrap="square"/>
                    <a:lstStyle/>
                    <a:p>
                      <a:pPr algn="r">
                        <a:lnSpc>
                          <a:spcPct val="104000"/>
                        </a:lnSpc>
                      </a:pPr>
                      <a:r>
                        <a:rPr sz="2100" b="0" i="0">
                          <a:solidFill>
                            <a:srgbClr val="10141A"/>
                          </a:solidFill>
                          <a:latin typeface="Arial"/>
                        </a:rPr>
                        <a:t>22.515</a:t>
                      </a:r>
                    </a:p>
                  </a:txBody>
                  <a:tcPr marL="60000" marR="60000" marT="35000" marB="35000" anchor="t">
                    <a:noFill/>
                  </a:tcPr>
                </a:tc>
                <a:tc>
                  <a:txBody>
                    <a:bodyPr wrap="square"/>
                    <a:lstStyle/>
                    <a:p>
                      <a:pPr algn="r">
                        <a:lnSpc>
                          <a:spcPct val="104000"/>
                        </a:lnSpc>
                      </a:pPr>
                      <a:r>
                        <a:rPr sz="2100" b="0" i="0">
                          <a:solidFill>
                            <a:srgbClr val="10141A"/>
                          </a:solidFill>
                          <a:latin typeface="Arial"/>
                        </a:rPr>
                        <a:t>₹2,200</a:t>
                      </a:r>
                    </a:p>
                  </a:txBody>
                  <a:tcPr marL="60000" marR="60000" marT="35000" marB="35000" anchor="t">
                    <a:noFill/>
                  </a:tcPr>
                </a:tc>
                <a:tc>
                  <a:txBody>
                    <a:bodyPr wrap="square"/>
                    <a:lstStyle/>
                    <a:p>
                      <a:pPr algn="r">
                        <a:lnSpc>
                          <a:spcPct val="104000"/>
                        </a:lnSpc>
                      </a:pPr>
                      <a:r>
                        <a:rPr sz="2100" b="0" i="0">
                          <a:solidFill>
                            <a:srgbClr val="10141A"/>
                          </a:solidFill>
                          <a:latin typeface="Arial"/>
                        </a:rPr>
                        <a:t>−0.015</a:t>
                      </a:r>
                    </a:p>
                  </a:txBody>
                  <a:tcPr marL="60000" marR="60000" marT="35000" marB="35000" anchor="t">
                    <a:noFill/>
                  </a:tcPr>
                </a:tc>
                <a:tc>
                  <a:txBody>
                    <a:bodyPr wrap="square"/>
                    <a:lstStyle/>
                    <a:p>
                      <a:pPr algn="r">
                        <a:lnSpc>
                          <a:spcPct val="104000"/>
                        </a:lnSpc>
                      </a:pPr>
                      <a:r>
                        <a:rPr sz="2100" b="0" i="0">
                          <a:solidFill>
                            <a:srgbClr val="10141A"/>
                          </a:solidFill>
                          <a:latin typeface="Arial"/>
                        </a:rPr>
                        <a:t>–</a:t>
                      </a:r>
                    </a:p>
                  </a:txBody>
                  <a:tcPr marL="60000" marR="60000" marT="35000" marB="35000" anchor="t">
                    <a:noFill/>
                  </a:tcPr>
                </a:tc>
              </a:tr>
              <a:tr h="548358">
                <a:tc>
                  <a:txBody>
                    <a:bodyPr wrap="square"/>
                    <a:lstStyle/>
                    <a:p>
                      <a:pPr algn="l">
                        <a:lnSpc>
                          <a:spcPct val="104000"/>
                        </a:lnSpc>
                      </a:pPr>
                      <a:r>
                        <a:rPr sz="2100" b="0" i="0">
                          <a:solidFill>
                            <a:srgbClr val="10141A"/>
                          </a:solidFill>
                          <a:latin typeface="Arial"/>
                        </a:rPr>
                        <a:t>HPV DNA every 5 years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₹9,100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22.560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₹2,300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0.045</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₹51,111</a:t>
                      </a:r>
                    </a:p>
                  </a:txBody>
                  <a:tcPr marL="60000" marR="60000" marT="35000" marB="35000" anchor="t">
                    <a:solidFill>
                      <a:srgbClr val="F4F6F9"/>
                    </a:solidFill>
                  </a:tcPr>
                </a:tc>
              </a:tr>
            </a:tbl>
          </a:graphicData>
        </a:graphic>
      </p:graphicFrame>
      <p:sp>
        <p:nvSpPr>
          <p:cNvPr id="6" name="Rectangle 5"/>
          <p:cNvSpPr/>
          <p:nvPr/>
        </p:nvSpPr>
        <p:spPr>
          <a:xfrm>
            <a:off x="552450" y="510465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510465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510499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Two of these should never be chosen at any threshold. Which two?</a:t>
            </a:r>
          </a:p>
        </p:txBody>
      </p:sp>
      <p:sp>
        <p:nvSpPr>
          <p:cNvPr id="9" name="Rectangle 8"/>
          <p:cNvSpPr/>
          <p:nvPr/>
        </p:nvSpPr>
        <p:spPr>
          <a:xfrm>
            <a:off x="552450" y="6320582"/>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6389402"/>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Illustrative figures, constructed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Simple dominance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1" i="0">
                <a:solidFill>
                  <a:srgbClr val="10141A"/>
                </a:solidFill>
                <a:latin typeface="Arial"/>
              </a:rPr>
              <a:t>Cytology every 5 years</a:t>
            </a:r>
            <a:r>
              <a:rPr sz="3000" b="0" i="0">
                <a:solidFill>
                  <a:srgbClr val="10141A"/>
                </a:solidFill>
                <a:latin typeface="Arial"/>
              </a:rPr>
              <a:t> costs ₹6,800 for 22.515 QALYs. </a:t>
            </a:r>
            <a:r>
              <a:rPr sz="3000" b="1" i="0">
                <a:solidFill>
                  <a:srgbClr val="10141A"/>
                </a:solidFill>
                <a:latin typeface="Arial"/>
              </a:rPr>
              <a:t>VIA every 5 years</a:t>
            </a:r>
            <a:r>
              <a:rPr sz="3000" b="0" i="0">
                <a:solidFill>
                  <a:srgbClr val="10141A"/>
                </a:solidFill>
                <a:latin typeface="Arial"/>
              </a:rPr>
              <a:t> costs ₹4,600 for 22.530.</a:t>
            </a:r>
          </a:p>
        </p:txBody>
      </p:sp>
      <p:sp>
        <p:nvSpPr>
          <p:cNvPr id="5" name="Rectangle 4"/>
          <p:cNvSpPr/>
          <p:nvPr/>
        </p:nvSpPr>
        <p:spPr>
          <a:xfrm>
            <a:off x="552450" y="238050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38084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More expensive </a:t>
            </a:r>
            <a:r>
              <a:rPr sz="3200" b="1" i="1" spc="-32">
                <a:solidFill>
                  <a:srgbClr val="10141A"/>
                </a:solidFill>
                <a:latin typeface="Arial"/>
              </a:rPr>
              <a:t>and</a:t>
            </a:r>
            <a:r>
              <a:rPr sz="3200" b="1" i="0" spc="-32">
                <a:solidFill>
                  <a:srgbClr val="10141A"/>
                </a:solidFill>
                <a:latin typeface="Arial"/>
              </a:rPr>
              <a:t> less effective. Strike it out. No threshold can rescue it.</a:t>
            </a:r>
          </a:p>
        </p:txBody>
      </p:sp>
      <p:sp>
        <p:nvSpPr>
          <p:cNvPr id="8" name="TextBox 7"/>
          <p:cNvSpPr txBox="1"/>
          <p:nvPr/>
        </p:nvSpPr>
        <p:spPr>
          <a:xfrm>
            <a:off x="552450" y="3576432"/>
            <a:ext cx="11087100" cy="1988939"/>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This is the north-west quadrant of the cost-effectiveness plane, met again in a table. Once an option is dominated, remove it and recompute the ICERs below it, because the comparisons have changed.</a:t>
            </a:r>
          </a:p>
        </p:txBody>
      </p:sp>
      <p:sp>
        <p:nvSpPr>
          <p:cNvPr id="9" name="TextBox 8"/>
          <p:cNvSpPr txBox="1"/>
          <p:nvPr/>
        </p:nvSpPr>
        <p:spPr>
          <a:xfrm>
            <a:off x="552450" y="5742923"/>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Its ICER is not "very large". It is negative and meaningless, which is why the column shows a dash.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Extended dominance, the subtle one</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Read the ICER column downwards: </a:t>
            </a:r>
            <a:r>
              <a:rPr sz="2200" b="1" i="0">
                <a:solidFill>
                  <a:srgbClr val="10141A"/>
                </a:solidFill>
                <a:latin typeface="Arial"/>
              </a:rPr>
              <a:t>₹55,000</a:t>
            </a:r>
            <a:r>
              <a:rPr sz="2200" b="0" i="0">
                <a:solidFill>
                  <a:srgbClr val="10141A"/>
                </a:solidFill>
                <a:latin typeface="Arial"/>
              </a:rPr>
              <a:t> for VIA every 10 years, then </a:t>
            </a:r>
            <a:r>
              <a:rPr sz="2200" b="1" i="0">
                <a:solidFill>
                  <a:srgbClr val="10141A"/>
                </a:solidFill>
                <a:latin typeface="Arial"/>
              </a:rPr>
              <a:t>₹13,333</a:t>
            </a:r>
            <a:r>
              <a:rPr sz="2200" b="0" i="0">
                <a:solidFill>
                  <a:srgbClr val="10141A"/>
                </a:solidFill>
                <a:latin typeface="Arial"/>
              </a:rPr>
              <a:t> for VIA every 5 years.</a:t>
            </a:r>
          </a:p>
        </p:txBody>
      </p:sp>
      <p:sp>
        <p:nvSpPr>
          <p:cNvPr id="5" name="Rectangle 4"/>
          <p:cNvSpPr/>
          <p:nvPr/>
        </p:nvSpPr>
        <p:spPr>
          <a:xfrm>
            <a:off x="552450" y="2083296"/>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083296"/>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083636"/>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ICER </a:t>
            </a:r>
            <a:r>
              <a:rPr sz="3200" b="1" i="1" spc="-32">
                <a:solidFill>
                  <a:srgbClr val="10141A"/>
                </a:solidFill>
                <a:latin typeface="Arial"/>
              </a:rPr>
              <a:t>falls</a:t>
            </a:r>
            <a:r>
              <a:rPr sz="3200" b="1" i="0" spc="-32">
                <a:solidFill>
                  <a:srgbClr val="10141A"/>
                </a:solidFill>
                <a:latin typeface="Arial"/>
              </a:rPr>
              <a:t> as you move down. That cannot be right.</a:t>
            </a:r>
          </a:p>
        </p:txBody>
      </p:sp>
      <p:sp>
        <p:nvSpPr>
          <p:cNvPr id="8" name="TextBox 7"/>
          <p:cNvSpPr txBox="1"/>
          <p:nvPr/>
        </p:nvSpPr>
        <p:spPr>
          <a:xfrm>
            <a:off x="552450" y="268123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VIA every 10 years is </a:t>
            </a:r>
            <a:r>
              <a:rPr sz="2200" b="1" i="0">
                <a:solidFill>
                  <a:srgbClr val="10141A"/>
                </a:solidFill>
                <a:latin typeface="Arial"/>
              </a:rPr>
              <a:t>extendedly dominated</a:t>
            </a:r>
            <a:r>
              <a:rPr sz="2200" b="0" i="0">
                <a:solidFill>
                  <a:srgbClr val="10141A"/>
                </a:solidFill>
                <a:latin typeface="Arial"/>
              </a:rPr>
              <a:t>: at any threshold where you would accept it, you would already have accepted the better-value option below it.</a:t>
            </a:r>
          </a:p>
        </p:txBody>
      </p:sp>
      <p:graphicFrame>
        <p:nvGraphicFramePr>
          <p:cNvPr id="9" name="Table 8"/>
          <p:cNvGraphicFramePr>
            <a:graphicFrameLocks noGrp="1"/>
          </p:cNvGraphicFramePr>
          <p:nvPr/>
        </p:nvGraphicFramePr>
        <p:xfrm>
          <a:off x="552450" y="3622477"/>
          <a:ext cx="11087101" cy="2150715"/>
        </p:xfrm>
        <a:graphic>
          <a:graphicData uri="http://schemas.openxmlformats.org/drawingml/2006/table">
            <a:tbl>
              <a:tblPr firstRow="1">
                <a:tableStyleId>{5C22544A-7EE6-4342-B048-85BDC9FD1C3A}</a:tableStyleId>
              </a:tblPr>
              <a:tblGrid>
                <a:gridCol w="6370439"/>
                <a:gridCol w="1422053"/>
                <a:gridCol w="1394520"/>
                <a:gridCol w="1900089"/>
              </a:tblGrid>
              <a:tr h="537678">
                <a:tc>
                  <a:txBody>
                    <a:bodyPr wrap="square"/>
                    <a:lstStyle/>
                    <a:p>
                      <a:pPr algn="l">
                        <a:lnSpc>
                          <a:spcPct val="104000"/>
                        </a:lnSpc>
                      </a:pPr>
                      <a:r>
                        <a:rPr sz="2100" b="1" i="0">
                          <a:solidFill>
                            <a:srgbClr val="FFFFFF"/>
                          </a:solidFill>
                          <a:latin typeface="Arial"/>
                        </a:rPr>
                        <a:t>After removing both dominated options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Cost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QALYs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ICER</a:t>
                      </a:r>
                    </a:p>
                  </a:txBody>
                  <a:tcPr marL="60000" marR="60000" marT="35000" marB="35000" anchor="t">
                    <a:solidFill>
                      <a:srgbClr val="162A6C"/>
                    </a:solidFill>
                  </a:tcPr>
                </a:tc>
              </a:tr>
              <a:tr h="537678">
                <a:tc>
                  <a:txBody>
                    <a:bodyPr wrap="square"/>
                    <a:lstStyle/>
                    <a:p>
                      <a:pPr algn="l">
                        <a:lnSpc>
                          <a:spcPct val="104000"/>
                        </a:lnSpc>
                      </a:pPr>
                      <a:r>
                        <a:rPr sz="2100" b="0" i="0">
                          <a:solidFill>
                            <a:srgbClr val="10141A"/>
                          </a:solidFill>
                          <a:latin typeface="Arial"/>
                        </a:rPr>
                        <a:t>No screening</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₹1,200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22.400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r>
              <a:tr h="537678">
                <a:tc>
                  <a:txBody>
                    <a:bodyPr wrap="square"/>
                    <a:lstStyle/>
                    <a:p>
                      <a:pPr algn="l">
                        <a:lnSpc>
                          <a:spcPct val="104000"/>
                        </a:lnSpc>
                      </a:pPr>
                      <a:r>
                        <a:rPr sz="2100" b="0" i="0">
                          <a:solidFill>
                            <a:srgbClr val="10141A"/>
                          </a:solidFill>
                          <a:latin typeface="Arial"/>
                        </a:rPr>
                        <a:t>VIA every 5 years</a:t>
                      </a:r>
                    </a:p>
                  </a:txBody>
                  <a:tcPr marL="60000" marR="60000" marT="35000" marB="35000" anchor="t">
                    <a:noFill/>
                  </a:tcPr>
                </a:tc>
                <a:tc>
                  <a:txBody>
                    <a:bodyPr wrap="square"/>
                    <a:lstStyle/>
                    <a:p>
                      <a:pPr algn="r">
                        <a:lnSpc>
                          <a:spcPct val="104000"/>
                        </a:lnSpc>
                      </a:pPr>
                      <a:r>
                        <a:rPr sz="2100" b="0" i="0">
                          <a:solidFill>
                            <a:srgbClr val="10141A"/>
                          </a:solidFill>
                          <a:latin typeface="Arial"/>
                        </a:rPr>
                        <a:t>₹4,600</a:t>
                      </a:r>
                    </a:p>
                  </a:txBody>
                  <a:tcPr marL="60000" marR="60000" marT="35000" marB="35000" anchor="t">
                    <a:noFill/>
                  </a:tcPr>
                </a:tc>
                <a:tc>
                  <a:txBody>
                    <a:bodyPr wrap="square"/>
                    <a:lstStyle/>
                    <a:p>
                      <a:pPr algn="r">
                        <a:lnSpc>
                          <a:spcPct val="104000"/>
                        </a:lnSpc>
                      </a:pPr>
                      <a:r>
                        <a:rPr sz="2100" b="0" i="0">
                          <a:solidFill>
                            <a:srgbClr val="10141A"/>
                          </a:solidFill>
                          <a:latin typeface="Arial"/>
                        </a:rPr>
                        <a:t>22.530</a:t>
                      </a:r>
                    </a:p>
                  </a:txBody>
                  <a:tcPr marL="60000" marR="60000" marT="35000" marB="35000" anchor="t">
                    <a:noFill/>
                  </a:tcPr>
                </a:tc>
                <a:tc>
                  <a:txBody>
                    <a:bodyPr wrap="square"/>
                    <a:lstStyle/>
                    <a:p>
                      <a:pPr algn="r">
                        <a:lnSpc>
                          <a:spcPct val="104000"/>
                        </a:lnSpc>
                      </a:pPr>
                      <a:r>
                        <a:rPr sz="2100" b="0" i="0">
                          <a:solidFill>
                            <a:srgbClr val="10141A"/>
                          </a:solidFill>
                          <a:latin typeface="Arial"/>
                        </a:rPr>
                        <a:t>₹26,154</a:t>
                      </a:r>
                    </a:p>
                  </a:txBody>
                  <a:tcPr marL="60000" marR="60000" marT="35000" marB="35000" anchor="t">
                    <a:noFill/>
                  </a:tcPr>
                </a:tc>
              </a:tr>
              <a:tr h="537681">
                <a:tc>
                  <a:txBody>
                    <a:bodyPr wrap="square"/>
                    <a:lstStyle/>
                    <a:p>
                      <a:pPr algn="l">
                        <a:lnSpc>
                          <a:spcPct val="104000"/>
                        </a:lnSpc>
                      </a:pPr>
                      <a:r>
                        <a:rPr sz="2100" b="0" i="0">
                          <a:solidFill>
                            <a:srgbClr val="10141A"/>
                          </a:solidFill>
                          <a:latin typeface="Arial"/>
                        </a:rPr>
                        <a:t>HPV DNA every 5 years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₹9,100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22.560</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₹1,50,000</a:t>
                      </a:r>
                    </a:p>
                  </a:txBody>
                  <a:tcPr marL="60000" marR="60000" marT="35000" marB="35000" anchor="t">
                    <a:solidFill>
                      <a:srgbClr val="F4F6F9"/>
                    </a:solidFill>
                  </a:tcPr>
                </a:tc>
              </a:tr>
            </a:tbl>
          </a:graphicData>
        </a:graphic>
      </p:graphicFrame>
      <p:sp>
        <p:nvSpPr>
          <p:cNvPr id="10" name="Rectangle 9"/>
          <p:cNvSpPr/>
          <p:nvPr/>
        </p:nvSpPr>
        <p:spPr>
          <a:xfrm>
            <a:off x="552450" y="5834211"/>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2450" y="5834211"/>
            <a:ext cx="57150" cy="536674"/>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6189" y="5834551"/>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Now the ICERs rise as cost rises.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 what do we fund?</a:t>
            </a:r>
          </a:p>
        </p:txBody>
      </p:sp>
      <p:graphicFrame>
        <p:nvGraphicFramePr>
          <p:cNvPr id="4" name="Table 3"/>
          <p:cNvGraphicFramePr>
            <a:graphicFrameLocks noGrp="1"/>
          </p:cNvGraphicFramePr>
          <p:nvPr/>
        </p:nvGraphicFramePr>
        <p:xfrm>
          <a:off x="552450" y="1162050"/>
          <a:ext cx="11087100" cy="1581001"/>
        </p:xfrm>
        <a:graphic>
          <a:graphicData uri="http://schemas.openxmlformats.org/drawingml/2006/table">
            <a:tbl>
              <a:tblPr firstRow="1">
                <a:tableStyleId>{5C22544A-7EE6-4342-B048-85BDC9FD1C3A}</a:tableStyleId>
              </a:tblPr>
              <a:tblGrid>
                <a:gridCol w="3672334"/>
                <a:gridCol w="3833812"/>
                <a:gridCol w="3580954"/>
              </a:tblGrid>
              <a:tr h="527000">
                <a:tc>
                  <a:txBody>
                    <a:bodyPr wrap="square"/>
                    <a:lstStyle/>
                    <a:p>
                      <a:pPr algn="l">
                        <a:lnSpc>
                          <a:spcPct val="104000"/>
                        </a:lnSpc>
                      </a:pPr>
                      <a:r>
                        <a:rPr sz="2100" b="1" i="0">
                          <a:solidFill>
                            <a:srgbClr val="FFFFFF"/>
                          </a:solidFill>
                          <a:latin typeface="Arial"/>
                        </a:rPr>
                        <a:t>Strategy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ICER vs the option below</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At </a:t>
                      </a:r>
                      <a:r>
                        <a:rPr sz="2100" b="1" i="0">
                          <a:solidFill>
                            <a:srgbClr val="FFFFFF"/>
                          </a:solidFill>
                          <a:latin typeface="Arial"/>
                        </a:rPr>
                        <a:t>λ</a:t>
                      </a:r>
                      <a:r>
                        <a:rPr sz="2100" b="1" i="0">
                          <a:solidFill>
                            <a:srgbClr val="FFFFFF"/>
                          </a:solidFill>
                          <a:latin typeface="Arial"/>
                        </a:rPr>
                        <a:t> ≈ ₹2,12,307</a:t>
                      </a:r>
                    </a:p>
                  </a:txBody>
                  <a:tcPr marL="60000" marR="60000" marT="35000" marB="35000" anchor="t">
                    <a:solidFill>
                      <a:srgbClr val="162A6C"/>
                    </a:solidFill>
                  </a:tcPr>
                </a:tc>
              </a:tr>
              <a:tr h="527000">
                <a:tc>
                  <a:txBody>
                    <a:bodyPr wrap="square"/>
                    <a:lstStyle/>
                    <a:p>
                      <a:pPr algn="l">
                        <a:lnSpc>
                          <a:spcPct val="104000"/>
                        </a:lnSpc>
                      </a:pPr>
                      <a:r>
                        <a:rPr sz="2100" b="0" i="0">
                          <a:solidFill>
                            <a:srgbClr val="10141A"/>
                          </a:solidFill>
                          <a:latin typeface="Arial"/>
                        </a:rPr>
                        <a:t>VIA every 5 years</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₹26,154</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accept</a:t>
                      </a:r>
                    </a:p>
                  </a:txBody>
                  <a:tcPr marL="60000" marR="60000" marT="35000" marB="35000" anchor="t">
                    <a:solidFill>
                      <a:srgbClr val="F4F6F9"/>
                    </a:solidFill>
                  </a:tcPr>
                </a:tc>
              </a:tr>
              <a:tr h="527001">
                <a:tc>
                  <a:txBody>
                    <a:bodyPr wrap="square"/>
                    <a:lstStyle/>
                    <a:p>
                      <a:pPr algn="l">
                        <a:lnSpc>
                          <a:spcPct val="104000"/>
                        </a:lnSpc>
                      </a:pPr>
                      <a:r>
                        <a:rPr sz="2100" b="0" i="0">
                          <a:solidFill>
                            <a:srgbClr val="10141A"/>
                          </a:solidFill>
                          <a:latin typeface="Arial"/>
                        </a:rPr>
                        <a:t>HPV DNA every 5 years</a:t>
                      </a:r>
                    </a:p>
                  </a:txBody>
                  <a:tcPr marL="60000" marR="60000" marT="35000" marB="35000" anchor="t">
                    <a:noFill/>
                  </a:tcPr>
                </a:tc>
                <a:tc>
                  <a:txBody>
                    <a:bodyPr wrap="square"/>
                    <a:lstStyle/>
                    <a:p>
                      <a:pPr algn="r">
                        <a:lnSpc>
                          <a:spcPct val="104000"/>
                        </a:lnSpc>
                      </a:pPr>
                      <a:r>
                        <a:rPr sz="2100" b="0" i="0">
                          <a:solidFill>
                            <a:srgbClr val="10141A"/>
                          </a:solidFill>
                          <a:latin typeface="Arial"/>
                        </a:rPr>
                        <a:t>₹1,50,000</a:t>
                      </a:r>
                    </a:p>
                  </a:txBody>
                  <a:tcPr marL="60000" marR="60000" marT="35000" marB="35000" anchor="t">
                    <a:noFill/>
                  </a:tcPr>
                </a:tc>
                <a:tc>
                  <a:txBody>
                    <a:bodyPr wrap="square"/>
                    <a:lstStyle/>
                    <a:p>
                      <a:pPr algn="l">
                        <a:lnSpc>
                          <a:spcPct val="104000"/>
                        </a:lnSpc>
                      </a:pPr>
                      <a:r>
                        <a:rPr sz="2100" b="1" i="0">
                          <a:solidFill>
                            <a:srgbClr val="FFFFFF"/>
                          </a:solidFill>
                          <a:latin typeface="Arial"/>
                        </a:rPr>
                        <a:t>accept, and the last that qualifies</a:t>
                      </a:r>
                    </a:p>
                  </a:txBody>
                  <a:tcPr marL="60000" marR="60000" marT="35000" marB="35000" anchor="t">
                    <a:noFill/>
                  </a:tcPr>
                </a:tc>
              </a:tr>
            </a:tbl>
          </a:graphicData>
        </a:graphic>
      </p:graphicFrame>
      <p:sp>
        <p:nvSpPr>
          <p:cNvPr id="5" name="Rectangle 4"/>
          <p:cNvSpPr/>
          <p:nvPr/>
        </p:nvSpPr>
        <p:spPr>
          <a:xfrm>
            <a:off x="552450" y="290572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905720"/>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90606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Climb the frontier one step at a time, for as long as each step costs less than λ per QALY.</a:t>
            </a:r>
          </a:p>
        </p:txBody>
      </p:sp>
      <p:sp>
        <p:nvSpPr>
          <p:cNvPr id="8" name="TextBox 7"/>
          <p:cNvSpPr txBox="1"/>
          <p:nvPr/>
        </p:nvSpPr>
        <p:spPr>
          <a:xfrm>
            <a:off x="552450" y="410164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At a lower threshold, say a supply-side estimate of ₹80,000, you would stop at VIA every five years. The question is not "which is best" but "how far up can we afford to go". That is incremental analysis in one sentence.</a:t>
            </a:r>
          </a:p>
        </p:txBody>
      </p:sp>
      <p:sp>
        <p:nvSpPr>
          <p:cNvPr id="9" name="Rectangle 8"/>
          <p:cNvSpPr/>
          <p:nvPr/>
        </p:nvSpPr>
        <p:spPr>
          <a:xfrm>
            <a:off x="552450" y="5433715"/>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50253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Illustrative figures. Threshold from Chugh et al., </a:t>
            </a:r>
            <a:r>
              <a:rPr sz="1400" b="0" i="1">
                <a:solidFill>
                  <a:srgbClr val="75808D"/>
                </a:solidFill>
                <a:latin typeface="Arial"/>
              </a:rPr>
              <a:t>Value in Health</a:t>
            </a:r>
            <a:r>
              <a:rPr sz="1400" b="0" i="0">
                <a:solidFill>
                  <a:srgbClr val="75808D"/>
                </a:solidFill>
                <a:latin typeface="Arial"/>
              </a:rPr>
              <a:t>,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same logic, on the plane</a:t>
            </a:r>
          </a:p>
        </p:txBody>
      </p:sp>
      <p:pic>
        <p:nvPicPr>
          <p:cNvPr id="4" name="Picture 3" descr="block3b-19-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Same widget as this morning, now with the ranking in mind: the frontier is the set of points you would climb, and dominance is visible as a point below and to the right of another.</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On your phone: </a:t>
            </a:r>
            <a:r>
              <a:rPr sz="1400" b="1" i="0">
                <a:solidFill>
                  <a:srgbClr val="10141A"/>
                </a:solidFill>
                <a:latin typeface="Arial"/>
              </a:rPr>
              <a:t>sph-aiimsbhopal.github.io/intro-economic-evaluation-health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Net monetary benefit, the cleaner form</a:t>
            </a:r>
          </a:p>
        </p:txBody>
      </p:sp>
      <p:pic>
        <p:nvPicPr>
          <p:cNvPr id="4" name="Picture 3" descr="block3b-20-0.png"/>
          <p:cNvPicPr>
            <a:picLocks noChangeAspect="1"/>
          </p:cNvPicPr>
          <p:nvPr/>
        </p:nvPicPr>
        <p:blipFill>
          <a:blip r:embed="rId2"/>
          <a:stretch>
            <a:fillRect/>
          </a:stretch>
        </p:blipFill>
        <p:spPr>
          <a:xfrm>
            <a:off x="552450" y="1162050"/>
            <a:ext cx="11087100" cy="759023"/>
          </a:xfrm>
          <a:prstGeom prst="rect">
            <a:avLst/>
          </a:prstGeom>
        </p:spPr>
      </p:pic>
      <p:sp>
        <p:nvSpPr>
          <p:cNvPr id="5" name="TextBox 4"/>
          <p:cNvSpPr txBox="1"/>
          <p:nvPr/>
        </p:nvSpPr>
        <p:spPr>
          <a:xfrm>
            <a:off x="552450" y="1990519"/>
            <a:ext cx="11087100" cy="358080"/>
          </a:xfrm>
          <a:prstGeom prst="rect">
            <a:avLst/>
          </a:prstGeom>
          <a:noFill/>
        </p:spPr>
        <p:txBody>
          <a:bodyPr wrap="square" lIns="0" rIns="0" tIns="0" bIns="0">
            <a:spAutoFit/>
          </a:bodyPr>
          <a:lstStyle/>
          <a:p>
            <a:pPr algn="ctr">
              <a:lnSpc>
                <a:spcPct val="116700"/>
              </a:lnSpc>
              <a:spcAft>
                <a:spcPts val="0"/>
              </a:spcAft>
              <a:buNone/>
            </a:pPr>
            <a:r>
              <a:rPr sz="2010" b="0" i="0">
                <a:solidFill>
                  <a:srgbClr val="47525F"/>
                </a:solidFill>
                <a:latin typeface="Arial"/>
              </a:rPr>
              <a:t>Value the health gained at the threshold, then subtract what it cost. Both terms in rupees.</a:t>
            </a:r>
          </a:p>
        </p:txBody>
      </p:sp>
      <p:sp>
        <p:nvSpPr>
          <p:cNvPr id="6" name="Rectangle 5"/>
          <p:cNvSpPr/>
          <p:nvPr/>
        </p:nvSpPr>
        <p:spPr>
          <a:xfrm>
            <a:off x="552450" y="2490639"/>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2490639"/>
            <a:ext cx="57150" cy="536674"/>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2490979"/>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Positive means adopt. That is the whole rule.</a:t>
            </a:r>
          </a:p>
        </p:txBody>
      </p:sp>
      <p:sp>
        <p:nvSpPr>
          <p:cNvPr id="9" name="TextBox 8"/>
          <p:cNvSpPr txBox="1"/>
          <p:nvPr/>
        </p:nvSpPr>
        <p:spPr>
          <a:xfrm>
            <a:off x="552450" y="3190371"/>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No division, so nothing explodes when Δ</a:t>
            </a:r>
            <a:r>
              <a:rPr sz="2200" b="0" i="1">
                <a:solidFill>
                  <a:srgbClr val="47525F"/>
                </a:solidFill>
                <a:latin typeface="Arial"/>
              </a:rPr>
              <a:t>E</a:t>
            </a:r>
            <a:r>
              <a:rPr sz="2200" b="0" i="0">
                <a:solidFill>
                  <a:srgbClr val="47525F"/>
                </a:solidFill>
                <a:latin typeface="Arial"/>
              </a:rPr>
              <a:t> is small, and the sign carries the meaning that an ICER loses.</a:t>
            </a:r>
          </a:p>
        </p:txBody>
      </p:sp>
      <p:sp>
        <p:nvSpPr>
          <p:cNvPr id="10" name="TextBox 9"/>
          <p:cNvSpPr txBox="1"/>
          <p:nvPr/>
        </p:nvSpPr>
        <p:spPr>
          <a:xfrm>
            <a:off x="552450" y="411161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VIA every 5 years, from the table: Δ</a:t>
            </a:r>
            <a:r>
              <a:rPr sz="2200" b="0" i="1">
                <a:solidFill>
                  <a:srgbClr val="10141A"/>
                </a:solidFill>
                <a:latin typeface="Arial"/>
              </a:rPr>
              <a:t>E</a:t>
            </a:r>
            <a:r>
              <a:rPr sz="2200" b="0" i="0">
                <a:solidFill>
                  <a:srgbClr val="10141A"/>
                </a:solidFill>
                <a:latin typeface="Arial"/>
              </a:rPr>
              <a:t> = 0.090 QALYs, Δ</a:t>
            </a:r>
            <a:r>
              <a:rPr sz="2200" b="0" i="1">
                <a:solidFill>
                  <a:srgbClr val="10141A"/>
                </a:solidFill>
                <a:latin typeface="Arial"/>
              </a:rPr>
              <a:t>C</a:t>
            </a:r>
            <a:r>
              <a:rPr sz="2200" b="0" i="0">
                <a:solidFill>
                  <a:srgbClr val="10141A"/>
                </a:solidFill>
                <a:latin typeface="Arial"/>
              </a:rPr>
              <a:t> = ₹1,200, at India's </a:t>
            </a:r>
            <a:r>
              <a:rPr sz="2200" b="0" i="0">
                <a:solidFill>
                  <a:srgbClr val="10141A"/>
                </a:solidFill>
                <a:latin typeface="Arial"/>
              </a:rPr>
              <a:t>λ</a:t>
            </a:r>
            <a:r>
              <a:rPr sz="2200" b="0" i="0">
                <a:solidFill>
                  <a:srgbClr val="10141A"/>
                </a:solidFill>
                <a:latin typeface="Arial"/>
              </a:rPr>
              <a:t> of ₹2,12,307.</a:t>
            </a:r>
          </a:p>
        </p:txBody>
      </p:sp>
      <p:pic>
        <p:nvPicPr>
          <p:cNvPr id="11" name="Picture 10" descr="block3b-20-1.png"/>
          <p:cNvPicPr>
            <a:picLocks noChangeAspect="1"/>
          </p:cNvPicPr>
          <p:nvPr/>
        </p:nvPicPr>
        <p:blipFill>
          <a:blip r:embed="rId3"/>
          <a:stretch>
            <a:fillRect/>
          </a:stretch>
        </p:blipFill>
        <p:spPr>
          <a:xfrm>
            <a:off x="552450" y="5052864"/>
            <a:ext cx="11087100" cy="62031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same decision, three ways</a:t>
            </a:r>
          </a:p>
        </p:txBody>
      </p:sp>
      <p:graphicFrame>
        <p:nvGraphicFramePr>
          <p:cNvPr id="4" name="Table 3"/>
          <p:cNvGraphicFramePr>
            <a:graphicFrameLocks noGrp="1"/>
          </p:cNvGraphicFramePr>
          <p:nvPr/>
        </p:nvGraphicFramePr>
        <p:xfrm>
          <a:off x="552450" y="1162050"/>
          <a:ext cx="11087100" cy="2150715"/>
        </p:xfrm>
        <a:graphic>
          <a:graphicData uri="http://schemas.openxmlformats.org/drawingml/2006/table">
            <a:tbl>
              <a:tblPr firstRow="1">
                <a:tableStyleId>{5C22544A-7EE6-4342-B048-85BDC9FD1C3A}</a:tableStyleId>
              </a:tblPr>
              <a:tblGrid>
                <a:gridCol w="4236690"/>
                <a:gridCol w="2762101"/>
                <a:gridCol w="4088309"/>
              </a:tblGrid>
              <a:tr h="537678">
                <a:tc>
                  <a:txBody>
                    <a:bodyPr wrap="square"/>
                    <a:lstStyle/>
                    <a:p>
                      <a:pPr algn="l">
                        <a:lnSpc>
                          <a:spcPct val="104000"/>
                        </a:lnSpc>
                      </a:pPr>
                      <a:r>
                        <a:rPr sz="2100" b="1" i="0">
                          <a:solidFill>
                            <a:srgbClr val="FFFFFF"/>
                          </a:solidFill>
                          <a:latin typeface="Arial"/>
                        </a:rPr>
                        <a:t>Form</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Formula</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Adopt when</a:t>
                      </a:r>
                    </a:p>
                  </a:txBody>
                  <a:tcPr marL="60000" marR="60000" marT="35000" marB="35000" anchor="t">
                    <a:solidFill>
                      <a:srgbClr val="162A6C"/>
                    </a:solidFill>
                  </a:tcPr>
                </a:tc>
              </a:tr>
              <a:tr h="537678">
                <a:tc>
                  <a:txBody>
                    <a:bodyPr wrap="square"/>
                    <a:lstStyle/>
                    <a:p>
                      <a:pPr algn="l">
                        <a:lnSpc>
                          <a:spcPct val="104000"/>
                        </a:lnSpc>
                      </a:pPr>
                      <a:r>
                        <a:rPr sz="2100" b="1" i="0">
                          <a:solidFill>
                            <a:srgbClr val="10141A"/>
                          </a:solidFill>
                          <a:latin typeface="Arial"/>
                        </a:rPr>
                        <a:t>ICER</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Δ</a:t>
                      </a:r>
                      <a:r>
                        <a:rPr sz="2100" b="0" i="1">
                          <a:solidFill>
                            <a:srgbClr val="10141A"/>
                          </a:solidFill>
                          <a:latin typeface="Arial"/>
                        </a:rPr>
                        <a:t>C</a:t>
                      </a:r>
                      <a:r>
                        <a:rPr sz="2100" b="0" i="0">
                          <a:solidFill>
                            <a:srgbClr val="10141A"/>
                          </a:solidFill>
                          <a:latin typeface="Arial"/>
                        </a:rPr>
                        <a:t> ÷ Δ</a:t>
                      </a:r>
                      <a:r>
                        <a:rPr sz="2100" b="0" i="1">
                          <a:solidFill>
                            <a:srgbClr val="10141A"/>
                          </a:solidFill>
                          <a:latin typeface="Arial"/>
                        </a:rPr>
                        <a:t>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ICER &lt; </a:t>
                      </a:r>
                      <a:r>
                        <a:rPr sz="2100" b="0" i="0">
                          <a:solidFill>
                            <a:srgbClr val="10141A"/>
                          </a:solidFill>
                          <a:latin typeface="Arial"/>
                        </a:rPr>
                        <a:t>λ</a:t>
                      </a:r>
                      <a:r>
                        <a:rPr sz="2100" b="0" i="0">
                          <a:solidFill>
                            <a:srgbClr val="10141A"/>
                          </a:solidFill>
                          <a:latin typeface="Arial"/>
                        </a:rPr>
                        <a:t>, </a:t>
                      </a:r>
                      <a:r>
                        <a:rPr sz="2100" b="0" i="1">
                          <a:solidFill>
                            <a:srgbClr val="10141A"/>
                          </a:solidFill>
                          <a:latin typeface="Arial"/>
                        </a:rPr>
                        <a:t>and</a:t>
                      </a:r>
                      <a:r>
                        <a:rPr sz="2100" b="0" i="0">
                          <a:solidFill>
                            <a:srgbClr val="10141A"/>
                          </a:solidFill>
                          <a:latin typeface="Arial"/>
                        </a:rPr>
                        <a:t> Δ</a:t>
                      </a:r>
                      <a:r>
                        <a:rPr sz="2100" b="0" i="1">
                          <a:solidFill>
                            <a:srgbClr val="10141A"/>
                          </a:solidFill>
                          <a:latin typeface="Arial"/>
                        </a:rPr>
                        <a:t>E</a:t>
                      </a:r>
                      <a:r>
                        <a:rPr sz="2100" b="0" i="0">
                          <a:solidFill>
                            <a:srgbClr val="10141A"/>
                          </a:solidFill>
                          <a:latin typeface="Arial"/>
                        </a:rPr>
                        <a:t> &gt; 0</a:t>
                      </a:r>
                    </a:p>
                  </a:txBody>
                  <a:tcPr marL="60000" marR="60000" marT="35000" marB="35000" anchor="t">
                    <a:solidFill>
                      <a:srgbClr val="F4F6F9"/>
                    </a:solidFill>
                  </a:tcPr>
                </a:tc>
              </a:tr>
              <a:tr h="537678">
                <a:tc>
                  <a:txBody>
                    <a:bodyPr wrap="square"/>
                    <a:lstStyle/>
                    <a:p>
                      <a:pPr algn="l">
                        <a:lnSpc>
                          <a:spcPct val="104000"/>
                        </a:lnSpc>
                      </a:pPr>
                      <a:r>
                        <a:rPr sz="2100" b="1" i="0">
                          <a:solidFill>
                            <a:srgbClr val="10141A"/>
                          </a:solidFill>
                          <a:latin typeface="Arial"/>
                        </a:rPr>
                        <a:t>Net monetary benefit</a:t>
                      </a:r>
                    </a:p>
                  </a:txBody>
                  <a:tcPr marL="60000" marR="60000" marT="35000" marB="35000" anchor="t">
                    <a:noFill/>
                  </a:tcPr>
                </a:tc>
                <a:tc>
                  <a:txBody>
                    <a:bodyPr wrap="square"/>
                    <a:lstStyle/>
                    <a:p>
                      <a:pPr algn="l">
                        <a:lnSpc>
                          <a:spcPct val="104000"/>
                        </a:lnSpc>
                      </a:pPr>
                      <a:r>
                        <a:rPr sz="2100" b="0" i="0">
                          <a:solidFill>
                            <a:srgbClr val="10141A"/>
                          </a:solidFill>
                          <a:latin typeface="Arial"/>
                        </a:rPr>
                        <a:t>(</a:t>
                      </a:r>
                      <a:r>
                        <a:rPr sz="2100" b="0" i="0">
                          <a:solidFill>
                            <a:srgbClr val="10141A"/>
                          </a:solidFill>
                          <a:latin typeface="Arial"/>
                        </a:rPr>
                        <a:t>λ</a:t>
                      </a:r>
                      <a:r>
                        <a:rPr sz="2100" b="0" i="0">
                          <a:solidFill>
                            <a:srgbClr val="10141A"/>
                          </a:solidFill>
                          <a:latin typeface="Arial"/>
                        </a:rPr>
                        <a:t> × Δ</a:t>
                      </a:r>
                      <a:r>
                        <a:rPr sz="2100" b="0" i="1">
                          <a:solidFill>
                            <a:srgbClr val="10141A"/>
                          </a:solidFill>
                          <a:latin typeface="Arial"/>
                        </a:rPr>
                        <a:t>E</a:t>
                      </a:r>
                      <a:r>
                        <a:rPr sz="2100" b="0" i="0">
                          <a:solidFill>
                            <a:srgbClr val="10141A"/>
                          </a:solidFill>
                          <a:latin typeface="Arial"/>
                        </a:rPr>
                        <a:t>) − Δ</a:t>
                      </a:r>
                      <a:r>
                        <a:rPr sz="2100" b="0" i="1">
                          <a:solidFill>
                            <a:srgbClr val="10141A"/>
                          </a:solidFill>
                          <a:latin typeface="Arial"/>
                        </a:rPr>
                        <a:t>C</a:t>
                      </a:r>
                    </a:p>
                  </a:txBody>
                  <a:tcPr marL="60000" marR="60000" marT="35000" marB="35000" anchor="t">
                    <a:noFill/>
                  </a:tcPr>
                </a:tc>
                <a:tc>
                  <a:txBody>
                    <a:bodyPr wrap="square"/>
                    <a:lstStyle/>
                    <a:p>
                      <a:pPr algn="l">
                        <a:lnSpc>
                          <a:spcPct val="104000"/>
                        </a:lnSpc>
                      </a:pPr>
                      <a:r>
                        <a:rPr sz="2100" b="0" i="0">
                          <a:solidFill>
                            <a:srgbClr val="10141A"/>
                          </a:solidFill>
                          <a:latin typeface="Arial"/>
                        </a:rPr>
                        <a:t>NMB &gt; 0</a:t>
                      </a:r>
                    </a:p>
                  </a:txBody>
                  <a:tcPr marL="60000" marR="60000" marT="35000" marB="35000" anchor="t">
                    <a:noFill/>
                  </a:tcPr>
                </a:tc>
              </a:tr>
              <a:tr h="537681">
                <a:tc>
                  <a:txBody>
                    <a:bodyPr wrap="square"/>
                    <a:lstStyle/>
                    <a:p>
                      <a:pPr algn="l">
                        <a:lnSpc>
                          <a:spcPct val="104000"/>
                        </a:lnSpc>
                      </a:pPr>
                      <a:r>
                        <a:rPr sz="2100" b="1" i="0">
                          <a:solidFill>
                            <a:srgbClr val="10141A"/>
                          </a:solidFill>
                          <a:latin typeface="Arial"/>
                        </a:rPr>
                        <a:t>Net health benefit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Δ</a:t>
                      </a:r>
                      <a:r>
                        <a:rPr sz="2100" b="0" i="1">
                          <a:solidFill>
                            <a:srgbClr val="10141A"/>
                          </a:solidFill>
                          <a:latin typeface="Arial"/>
                        </a:rPr>
                        <a:t>E</a:t>
                      </a:r>
                      <a:r>
                        <a:rPr sz="2100" b="0" i="0">
                          <a:solidFill>
                            <a:srgbClr val="10141A"/>
                          </a:solidFill>
                          <a:latin typeface="Arial"/>
                        </a:rPr>
                        <a:t> − (Δ</a:t>
                      </a:r>
                      <a:r>
                        <a:rPr sz="2100" b="0" i="1">
                          <a:solidFill>
                            <a:srgbClr val="10141A"/>
                          </a:solidFill>
                          <a:latin typeface="Arial"/>
                        </a:rPr>
                        <a:t>C</a:t>
                      </a:r>
                      <a:r>
                        <a:rPr sz="2100" b="0" i="0">
                          <a:solidFill>
                            <a:srgbClr val="10141A"/>
                          </a:solidFill>
                          <a:latin typeface="Arial"/>
                        </a:rPr>
                        <a:t> ÷ </a:t>
                      </a:r>
                      <a:r>
                        <a:rPr sz="2100" b="0" i="0">
                          <a:solidFill>
                            <a:srgbClr val="10141A"/>
                          </a:solidFill>
                          <a:latin typeface="Arial"/>
                        </a:rPr>
                        <a:t>λ</a:t>
                      </a:r>
                      <a:r>
                        <a:rPr sz="2100" b="0" i="0">
                          <a:solidFill>
                            <a:srgbClr val="10141A"/>
                          </a:solidFill>
                          <a:latin typeface="Arial"/>
                        </a:rPr>
                        <a: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NHB &gt; 0</a:t>
                      </a:r>
                    </a:p>
                  </a:txBody>
                  <a:tcPr marL="60000" marR="60000" marT="35000" marB="35000" anchor="t">
                    <a:solidFill>
                      <a:srgbClr val="F4F6F9"/>
                    </a:solidFill>
                  </a:tcPr>
                </a:tc>
              </a:tr>
            </a:tbl>
          </a:graphicData>
        </a:graphic>
      </p:graphicFrame>
      <p:sp>
        <p:nvSpPr>
          <p:cNvPr id="5" name="TextBox 4"/>
          <p:cNvSpPr txBox="1"/>
          <p:nvPr/>
        </p:nvSpPr>
        <p:spPr>
          <a:xfrm>
            <a:off x="552450" y="3376407"/>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NHB is NMB divided by </a:t>
            </a:r>
            <a:r>
              <a:rPr sz="2200" b="0" i="0">
                <a:solidFill>
                  <a:srgbClr val="10141A"/>
                </a:solidFill>
                <a:latin typeface="Arial"/>
              </a:rPr>
              <a:t>λ</a:t>
            </a:r>
            <a:r>
              <a:rPr sz="2200" b="0" i="0">
                <a:solidFill>
                  <a:srgbClr val="10141A"/>
                </a:solidFill>
                <a:latin typeface="Arial"/>
              </a:rPr>
              <a:t>, so it says the same thing in QALYs instead of rupees: the health you buy, minus the health displaced elsewhere to pay for it.</a:t>
            </a:r>
          </a:p>
        </p:txBody>
      </p:sp>
      <p:sp>
        <p:nvSpPr>
          <p:cNvPr id="6" name="Rectangle 5"/>
          <p:cNvSpPr/>
          <p:nvPr/>
        </p:nvSpPr>
        <p:spPr>
          <a:xfrm>
            <a:off x="552450" y="431765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317653"/>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31799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All three agree, but only the ICER needs a side condition.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NMB, and not the ratio</a:t>
            </a:r>
          </a:p>
        </p:txBody>
      </p:sp>
      <p:graphicFrame>
        <p:nvGraphicFramePr>
          <p:cNvPr id="4" name="Table 3"/>
          <p:cNvGraphicFramePr>
            <a:graphicFrameLocks noGrp="1"/>
          </p:cNvGraphicFramePr>
          <p:nvPr/>
        </p:nvGraphicFramePr>
        <p:xfrm>
          <a:off x="552450" y="1162050"/>
          <a:ext cx="11087100" cy="2720429"/>
        </p:xfrm>
        <a:graphic>
          <a:graphicData uri="http://schemas.openxmlformats.org/drawingml/2006/table">
            <a:tbl>
              <a:tblPr firstRow="1">
                <a:tableStyleId>{5C22544A-7EE6-4342-B048-85BDC9FD1C3A}</a:tableStyleId>
              </a:tblPr>
              <a:tblGrid>
                <a:gridCol w="3956298"/>
                <a:gridCol w="4229695"/>
                <a:gridCol w="2901107"/>
              </a:tblGrid>
              <a:tr h="544085">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ICER</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Net monetary benefit</a:t>
                      </a:r>
                    </a:p>
                  </a:txBody>
                  <a:tcPr marL="60000" marR="60000" marT="35000" marB="35000" anchor="t">
                    <a:solidFill>
                      <a:srgbClr val="162A6C"/>
                    </a:solidFill>
                  </a:tcPr>
                </a:tc>
              </a:tr>
              <a:tr h="544085">
                <a:tc>
                  <a:txBody>
                    <a:bodyPr wrap="square"/>
                    <a:lstStyle/>
                    <a:p>
                      <a:pPr algn="l">
                        <a:lnSpc>
                          <a:spcPct val="104000"/>
                        </a:lnSpc>
                      </a:pPr>
                      <a:r>
                        <a:rPr sz="2100" b="0" i="0">
                          <a:solidFill>
                            <a:srgbClr val="10141A"/>
                          </a:solidFill>
                          <a:latin typeface="Arial"/>
                        </a:rPr>
                        <a:t>When ΔE = 0</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undefined</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fine, it is just −ΔC</a:t>
                      </a:r>
                    </a:p>
                  </a:txBody>
                  <a:tcPr marL="60000" marR="60000" marT="35000" marB="35000" anchor="t">
                    <a:solidFill>
                      <a:srgbClr val="F4F6F9"/>
                    </a:solidFill>
                  </a:tcPr>
                </a:tc>
              </a:tr>
              <a:tr h="544085">
                <a:tc>
                  <a:txBody>
                    <a:bodyPr wrap="square"/>
                    <a:lstStyle/>
                    <a:p>
                      <a:pPr algn="l">
                        <a:lnSpc>
                          <a:spcPct val="104000"/>
                        </a:lnSpc>
                      </a:pPr>
                      <a:r>
                        <a:rPr sz="2100" b="0" i="0">
                          <a:solidFill>
                            <a:srgbClr val="10141A"/>
                          </a:solidFill>
                          <a:latin typeface="Arial"/>
                        </a:rPr>
                        <a:t>Dominated vs dominant</a:t>
                      </a:r>
                    </a:p>
                  </a:txBody>
                  <a:tcPr marL="60000" marR="60000" marT="35000" marB="35000" anchor="t">
                    <a:noFill/>
                  </a:tcPr>
                </a:tc>
                <a:tc>
                  <a:txBody>
                    <a:bodyPr wrap="square"/>
                    <a:lstStyle/>
                    <a:p>
                      <a:pPr algn="l">
                        <a:lnSpc>
                          <a:spcPct val="104000"/>
                        </a:lnSpc>
                      </a:pPr>
                      <a:r>
                        <a:rPr sz="2100" b="0" i="0">
                          <a:solidFill>
                            <a:srgbClr val="10141A"/>
                          </a:solidFill>
                          <a:latin typeface="Arial"/>
                        </a:rPr>
                        <a:t>both negative, indistinguishable</a:t>
                      </a:r>
                    </a:p>
                  </a:txBody>
                  <a:tcPr marL="60000" marR="60000" marT="35000" marB="35000" anchor="t">
                    <a:noFill/>
                  </a:tcPr>
                </a:tc>
                <a:tc>
                  <a:txBody>
                    <a:bodyPr wrap="square"/>
                    <a:lstStyle/>
                    <a:p>
                      <a:pPr algn="l">
                        <a:lnSpc>
                          <a:spcPct val="104000"/>
                        </a:lnSpc>
                      </a:pPr>
                      <a:r>
                        <a:rPr sz="2100" b="0" i="0">
                          <a:solidFill>
                            <a:srgbClr val="10141A"/>
                          </a:solidFill>
                          <a:latin typeface="Arial"/>
                        </a:rPr>
                        <a:t>opposite signs</a:t>
                      </a:r>
                    </a:p>
                  </a:txBody>
                  <a:tcPr marL="60000" marR="60000" marT="35000" marB="35000" anchor="t">
                    <a:noFill/>
                  </a:tcPr>
                </a:tc>
              </a:tr>
              <a:tr h="544085">
                <a:tc>
                  <a:txBody>
                    <a:bodyPr wrap="square"/>
                    <a:lstStyle/>
                    <a:p>
                      <a:pPr algn="l">
                        <a:lnSpc>
                          <a:spcPct val="104000"/>
                        </a:lnSpc>
                      </a:pPr>
                      <a:r>
                        <a:rPr sz="2100" b="0" i="0">
                          <a:solidFill>
                            <a:srgbClr val="10141A"/>
                          </a:solidFill>
                          <a:latin typeface="Arial"/>
                        </a:rPr>
                        <a:t>North-east vs south-west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same value, opposite meaning</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opposite signs</a:t>
                      </a:r>
                    </a:p>
                  </a:txBody>
                  <a:tcPr marL="60000" marR="60000" marT="35000" marB="35000" anchor="t">
                    <a:solidFill>
                      <a:srgbClr val="F4F6F9"/>
                    </a:solidFill>
                  </a:tcPr>
                </a:tc>
              </a:tr>
              <a:tr h="544089">
                <a:tc>
                  <a:txBody>
                    <a:bodyPr wrap="square"/>
                    <a:lstStyle/>
                    <a:p>
                      <a:pPr algn="l">
                        <a:lnSpc>
                          <a:spcPct val="104000"/>
                        </a:lnSpc>
                      </a:pPr>
                      <a:r>
                        <a:rPr sz="2100" b="0" i="0">
                          <a:solidFill>
                            <a:srgbClr val="10141A"/>
                          </a:solidFill>
                          <a:latin typeface="Arial"/>
                        </a:rPr>
                        <a:t>Averaging across simulations</a:t>
                      </a:r>
                    </a:p>
                  </a:txBody>
                  <a:tcPr marL="60000" marR="60000" marT="35000" marB="35000" anchor="t">
                    <a:noFill/>
                  </a:tcPr>
                </a:tc>
                <a:tc>
                  <a:txBody>
                    <a:bodyPr wrap="square"/>
                    <a:lstStyle/>
                    <a:p>
                      <a:pPr algn="l">
                        <a:lnSpc>
                          <a:spcPct val="104000"/>
                        </a:lnSpc>
                      </a:pPr>
                      <a:r>
                        <a:rPr sz="2100" b="0" i="0">
                          <a:solidFill>
                            <a:srgbClr val="10141A"/>
                          </a:solidFill>
                          <a:latin typeface="Arial"/>
                        </a:rPr>
                        <a:t>incoherent</a:t>
                      </a:r>
                    </a:p>
                  </a:txBody>
                  <a:tcPr marL="60000" marR="60000" marT="35000" marB="35000" anchor="t">
                    <a:noFill/>
                  </a:tcPr>
                </a:tc>
                <a:tc>
                  <a:txBody>
                    <a:bodyPr wrap="square"/>
                    <a:lstStyle/>
                    <a:p>
                      <a:pPr algn="l">
                        <a:lnSpc>
                          <a:spcPct val="104000"/>
                        </a:lnSpc>
                      </a:pPr>
                      <a:r>
                        <a:rPr sz="2100" b="0" i="0">
                          <a:solidFill>
                            <a:srgbClr val="10141A"/>
                          </a:solidFill>
                          <a:latin typeface="Arial"/>
                        </a:rPr>
                        <a:t>straightforward</a:t>
                      </a:r>
                    </a:p>
                  </a:txBody>
                  <a:tcPr marL="60000" marR="60000" marT="35000" marB="35000" anchor="t">
                    <a:noFill/>
                  </a:tcPr>
                </a:tc>
              </a:tr>
            </a:tbl>
          </a:graphicData>
        </a:graphic>
      </p:graphicFrame>
      <p:sp>
        <p:nvSpPr>
          <p:cNvPr id="5" name="Rectangle 4"/>
          <p:cNvSpPr/>
          <p:nvPr/>
        </p:nvSpPr>
        <p:spPr>
          <a:xfrm>
            <a:off x="552450" y="400451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004518"/>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00485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Which is why probabilistic analysis is counted on NMB, not on the ratio.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A </a:t>
            </a:r>
            <a:r>
              <a:rPr sz="2800" b="1" i="0">
                <a:solidFill>
                  <a:srgbClr val="10141A"/>
                </a:solidFill>
                <a:latin typeface="Arial"/>
              </a:rPr>
              <a:t>QALY</a:t>
            </a:r>
            <a:r>
              <a:rPr sz="2800" b="0" i="0">
                <a:solidFill>
                  <a:srgbClr val="10141A"/>
                </a:solidFill>
                <a:latin typeface="Arial"/>
              </a:rPr>
              <a:t> is quality times time: an area, not a score. India has its own value set</a:t>
            </a:r>
          </a:p>
        </p:txBody>
      </p:sp>
      <p:sp>
        <p:nvSpPr>
          <p:cNvPr id="5" name="TextBox 4"/>
          <p:cNvSpPr txBox="1"/>
          <p:nvPr/>
        </p:nvSpPr>
        <p:spPr>
          <a:xfrm>
            <a:off x="1288703" y="224308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Utilities come from the </a:t>
            </a:r>
            <a:r>
              <a:rPr sz="2800" b="1" i="0">
                <a:solidFill>
                  <a:srgbClr val="10141A"/>
                </a:solidFill>
                <a:latin typeface="Arial"/>
              </a:rPr>
              <a:t>general public</a:t>
            </a:r>
            <a:r>
              <a:rPr sz="2800" b="0" i="0">
                <a:solidFill>
                  <a:srgbClr val="10141A"/>
                </a:solidFill>
                <a:latin typeface="Arial"/>
              </a:rPr>
              <a:t>, and that is deliberate</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QALYs and DALYs cannot share a league table</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Discount both at </a:t>
            </a:r>
            <a:r>
              <a:rPr sz="2800" b="1" i="0">
                <a:solidFill>
                  <a:srgbClr val="10141A"/>
                </a:solidFill>
                <a:latin typeface="Arial"/>
              </a:rPr>
              <a:t>3%</a:t>
            </a:r>
            <a:r>
              <a:rPr sz="2800" b="0" i="0">
                <a:solidFill>
                  <a:srgbClr val="10141A"/>
                </a:solidFill>
                <a:latin typeface="Arial"/>
              </a:rPr>
              <a:t>, test 0 to 5%, report undiscounted too</a:t>
            </a:r>
          </a:p>
        </p:txBody>
      </p:sp>
      <p:sp>
        <p:nvSpPr>
          <p:cNvPr id="8" name="TextBox 7"/>
          <p:cNvSpPr txBox="1"/>
          <p:nvPr/>
        </p:nvSpPr>
        <p:spPr>
          <a:xfrm>
            <a:off x="1288703" y="4107599"/>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Average ratios are meaningless.</a:t>
            </a:r>
            <a:r>
              <a:rPr sz="2800" b="0" i="0">
                <a:solidFill>
                  <a:srgbClr val="10141A"/>
                </a:solidFill>
                <a:latin typeface="Arial"/>
              </a:rPr>
              <a:t> Only incremental ones answer a decision</a:t>
            </a:r>
          </a:p>
        </p:txBody>
      </p:sp>
      <p:sp>
        <p:nvSpPr>
          <p:cNvPr id="9" name="TextBox 8"/>
          <p:cNvSpPr txBox="1"/>
          <p:nvPr/>
        </p:nvSpPr>
        <p:spPr>
          <a:xfrm>
            <a:off x="1288703" y="520863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Rank by cost, remove dominance, then look for a </a:t>
            </a:r>
            <a:r>
              <a:rPr sz="2800" b="1" i="0">
                <a:solidFill>
                  <a:srgbClr val="10141A"/>
                </a:solidFill>
                <a:latin typeface="Arial"/>
              </a:rPr>
              <a:t>falling ICER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5068937" cy="2814786"/>
          </a:xfrm>
          <a:prstGeom prst="rect">
            <a:avLst/>
          </a:prstGeom>
          <a:noFill/>
        </p:spPr>
        <p:txBody>
          <a:bodyPr wrap="square" lIns="0" rIns="0" tIns="0" bIns="0">
            <a:spAutoFit/>
          </a:bodyPr>
          <a:lstStyle/>
          <a:p>
            <a:pPr algn="l" marL="285750" indent="-285750">
              <a:lnSpc>
                <a:spcPct val="120800"/>
              </a:lnSpc>
              <a:spcAft>
                <a:spcPts val="400"/>
              </a:spcAft>
              <a:buAutoNum type="arabicPeriod"/>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 </a:t>
            </a:r>
            <a:r>
              <a:rPr sz="1400" b="1" i="0">
                <a:solidFill>
                  <a:srgbClr val="10141A"/>
                </a:solidFill>
                <a:latin typeface="Arial"/>
              </a:rPr>
              <a:t>Chapter 4</a:t>
            </a:r>
            <a:r>
              <a:rPr sz="1400" b="0" i="0">
                <a:solidFill>
                  <a:srgbClr val="47525F"/>
                </a:solidFill>
                <a:latin typeface="Arial"/>
              </a:rPr>
              <a:t>, pp. 77–123.</a:t>
            </a:r>
          </a:p>
          <a:p>
            <a:pPr algn="l" marL="285750" indent="-285750">
              <a:lnSpc>
                <a:spcPct val="120800"/>
              </a:lnSpc>
              <a:spcAft>
                <a:spcPts val="400"/>
              </a:spcAft>
              <a:buAutoNum type="arabicPeriod" startAt="2"/>
            </a:pPr>
            <a:r>
              <a:rPr sz="1400" b="1" i="0">
                <a:solidFill>
                  <a:srgbClr val="10141A"/>
                </a:solidFill>
                <a:latin typeface="Arial"/>
              </a:rPr>
              <a:t>Sharma D, Prinja S, Aggarwal AK, Rajsekar K, Bahuguna P.</a:t>
            </a:r>
            <a:r>
              <a:rPr sz="1400" b="0" i="0">
                <a:solidFill>
                  <a:srgbClr val="47525F"/>
                </a:solidFill>
                <a:latin typeface="Arial"/>
              </a:rPr>
              <a:t> Development of the Indian Reference Case for undertaking economic evaluation for health technology assessment. </a:t>
            </a:r>
            <a:r>
              <a:rPr sz="1400" b="0" i="1">
                <a:solidFill>
                  <a:srgbClr val="47525F"/>
                </a:solidFill>
                <a:latin typeface="Arial"/>
              </a:rPr>
              <a:t>Lancet Reg Health Southeast Asia</a:t>
            </a:r>
            <a:r>
              <a:rPr sz="1400" b="0" i="0">
                <a:solidFill>
                  <a:srgbClr val="47525F"/>
                </a:solidFill>
                <a:latin typeface="Arial"/>
              </a:rPr>
              <a:t> 2023;16:100241. PMID 37694178</a:t>
            </a:r>
          </a:p>
          <a:p>
            <a:pPr algn="l" marL="285750" indent="-285750">
              <a:lnSpc>
                <a:spcPct val="120800"/>
              </a:lnSpc>
              <a:spcAft>
                <a:spcPts val="400"/>
              </a:spcAft>
              <a:buAutoNum type="arabicPeriod" startAt="3"/>
            </a:pPr>
            <a:r>
              <a:rPr sz="1400" b="1" i="0">
                <a:solidFill>
                  <a:srgbClr val="10141A"/>
                </a:solidFill>
                <a:latin typeface="Arial"/>
              </a:rPr>
              <a:t>Jyani G, Sharma A, Prinja S, Kar SS, et al.</a:t>
            </a:r>
            <a:r>
              <a:rPr sz="1400" b="0" i="0">
                <a:solidFill>
                  <a:srgbClr val="47525F"/>
                </a:solidFill>
                <a:latin typeface="Arial"/>
              </a:rPr>
              <a:t> Development of an EQ-5D value set for India using an extended design (DEVINE) study. </a:t>
            </a:r>
            <a:r>
              <a:rPr sz="1400" b="0" i="1">
                <a:solidFill>
                  <a:srgbClr val="47525F"/>
                </a:solidFill>
                <a:latin typeface="Arial"/>
              </a:rPr>
              <a:t>Value Health</a:t>
            </a:r>
            <a:r>
              <a:rPr sz="1400" b="0" i="0">
                <a:solidFill>
                  <a:srgbClr val="47525F"/>
                </a:solidFill>
                <a:latin typeface="Arial"/>
              </a:rPr>
              <a:t> 2022;25(7):1218–26. PMID 35779943</a:t>
            </a:r>
          </a:p>
        </p:txBody>
      </p:sp>
      <p:sp>
        <p:nvSpPr>
          <p:cNvPr id="5" name="TextBox 4"/>
          <p:cNvSpPr txBox="1"/>
          <p:nvPr/>
        </p:nvSpPr>
        <p:spPr>
          <a:xfrm>
            <a:off x="6570613" y="1142050"/>
            <a:ext cx="5068937" cy="2814786"/>
          </a:xfrm>
          <a:prstGeom prst="rect">
            <a:avLst/>
          </a:prstGeom>
          <a:noFill/>
        </p:spPr>
        <p:txBody>
          <a:bodyPr wrap="square" lIns="0" rIns="0" tIns="0" bIns="0">
            <a:spAutoFit/>
          </a:bodyPr>
          <a:lstStyle/>
          <a:p>
            <a:pPr algn="l" marL="285750" indent="-285750">
              <a:lnSpc>
                <a:spcPct val="120800"/>
              </a:lnSpc>
              <a:spcAft>
                <a:spcPts val="400"/>
              </a:spcAft>
              <a:buAutoNum type="arabicPeriod" startAt="4"/>
            </a:pPr>
            <a:r>
              <a:rPr sz="1400" b="1" i="0">
                <a:solidFill>
                  <a:srgbClr val="10141A"/>
                </a:solidFill>
                <a:latin typeface="Arial"/>
              </a:rPr>
              <a:t>Chugh Y, Jyani G, Kar SS, Rajsekar K, Prinja S, et al.</a:t>
            </a:r>
            <a:r>
              <a:rPr sz="1400" b="0" i="0">
                <a:solidFill>
                  <a:srgbClr val="47525F"/>
                </a:solidFill>
                <a:latin typeface="Arial"/>
              </a:rPr>
              <a:t> Estimating the willingness-to-pay per quality-adjusted life-year to aid health technology assessment in India. </a:t>
            </a:r>
            <a:r>
              <a:rPr sz="1400" b="0" i="1">
                <a:solidFill>
                  <a:srgbClr val="47525F"/>
                </a:solidFill>
                <a:latin typeface="Arial"/>
              </a:rPr>
              <a:t>Value Health</a:t>
            </a:r>
            <a:r>
              <a:rPr sz="1400" b="0" i="0">
                <a:solidFill>
                  <a:srgbClr val="47525F"/>
                </a:solidFill>
                <a:latin typeface="Arial"/>
              </a:rPr>
              <a:t> 2026;29(3):457–66. PMID 41176029</a:t>
            </a:r>
          </a:p>
          <a:p>
            <a:pPr algn="l" marL="285750" indent="-285750">
              <a:lnSpc>
                <a:spcPct val="120800"/>
              </a:lnSpc>
              <a:spcAft>
                <a:spcPts val="400"/>
              </a:spcAft>
              <a:buAutoNum type="arabicPeriod" startAt="5"/>
            </a:pPr>
            <a:r>
              <a:rPr sz="1400" b="1" i="0">
                <a:solidFill>
                  <a:srgbClr val="10141A"/>
                </a:solidFill>
                <a:latin typeface="Arial"/>
              </a:rPr>
              <a:t>Chauhan AS, Prinja S, Srinivasan R, et al.</a:t>
            </a:r>
            <a:r>
              <a:rPr sz="1400" b="0" i="0">
                <a:solidFill>
                  <a:srgbClr val="47525F"/>
                </a:solidFill>
                <a:latin typeface="Arial"/>
              </a:rPr>
              <a:t> Cost effectiveness of strategies for cervical cancer prevention in India. </a:t>
            </a:r>
            <a:r>
              <a:rPr sz="1400" b="0" i="1">
                <a:solidFill>
                  <a:srgbClr val="47525F"/>
                </a:solidFill>
                <a:latin typeface="Arial"/>
              </a:rPr>
              <a:t>PLoS One</a:t>
            </a:r>
            <a:r>
              <a:rPr sz="1400" b="0" i="0">
                <a:solidFill>
                  <a:srgbClr val="47525F"/>
                </a:solidFill>
                <a:latin typeface="Arial"/>
              </a:rPr>
              <a:t> 2020;15(9):e0238291. PMID 32870941</a:t>
            </a:r>
          </a:p>
          <a:p>
            <a:pPr algn="l" marL="285750" indent="-285750">
              <a:lnSpc>
                <a:spcPct val="120800"/>
              </a:lnSpc>
              <a:spcAft>
                <a:spcPts val="400"/>
              </a:spcAft>
              <a:buAutoNum type="arabicPeriod" startAt="6"/>
            </a:pPr>
            <a:r>
              <a:rPr sz="1400" b="0" i="0">
                <a:solidFill>
                  <a:srgbClr val="47525F"/>
                </a:solidFill>
                <a:latin typeface="Arial"/>
              </a:rPr>
              <a:t>The five-strategy ranking table is </a:t>
            </a:r>
            <a:r>
              <a:rPr sz="1400" b="1" i="0">
                <a:solidFill>
                  <a:srgbClr val="10141A"/>
                </a:solidFill>
                <a:latin typeface="Arial"/>
              </a:rPr>
              <a:t>constructed for teaching</a:t>
            </a:r>
            <a:r>
              <a:rPr sz="1400" b="0" i="0">
                <a:solidFill>
                  <a:srgbClr val="47525F"/>
                </a:solidFill>
                <a:latin typeface="Arial"/>
              </a:rPr>
              <a:t>, built so that simple dominance, extended dominance and a frontier all appear at once. No single published Indian paper shows all three cleanly.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FACULTY WORKSHOP · SESSION 8 · HANDLING UNCERTAINTY</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Every number in that table</a:t>
            </a:r>
          </a:p>
          <a:p>
            <a:pPr algn="l">
              <a:lnSpc>
                <a:spcPct val="91700"/>
              </a:lnSpc>
              <a:spcAft>
                <a:spcPts val="400"/>
              </a:spcAft>
              <a:buNone/>
            </a:pPr>
            <a:r>
              <a:rPr sz="5400" b="1" i="0" spc="-81">
                <a:solidFill>
                  <a:srgbClr val="162A6C"/>
                </a:solidFill>
                <a:latin typeface="Arial"/>
              </a:rPr>
              <a:t>was an estimate</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One-way and probabilistic sensitivity analysis, the tornado diagram, the cloud, and the cost-effectiveness acceptability curve.</a:t>
            </a:r>
          </a:p>
        </p:txBody>
      </p:sp>
      <p:sp>
        <p:nvSpPr>
          <p:cNvPr id="5" name="TextBox 4"/>
          <p:cNvSpPr txBox="1"/>
          <p:nvPr/>
        </p:nvSpPr>
        <p:spPr>
          <a:xfrm>
            <a:off x="914400" y="4029167"/>
            <a:ext cx="103632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The ICER you just computed is a point estimate. The next block is about how much to trust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